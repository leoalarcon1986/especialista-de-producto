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charts/chart1.xml" ContentType="application/vnd.openxmlformats-officedocument.drawingml.chart+xml"/>
  <Override PartName="/ppt/slideMasters/slideMaster2.xml" ContentType="application/vnd.openxmlformats-officedocument.presentationml.slideMaster+xml"/>
  <Override PartName="/ppt/slides/slide2.xml" ContentType="application/vnd.openxmlformats-officedocument.presentationml.slide+xml"/>
  <Override PartName="/ppt/charts/chart2.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3.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4.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esentación" id="{c44d5169-9b00-fbb5-844a-7b455bc47097}">
          <p14:sldIdLst>
            <p14:sldId id="256"/>
            <p14:sldId id="257"/>
            <p14:sldId id="258"/>
            <p14:sldId id="259"/>
            <p14:sldId id="260"/>
          </p14:sldIdLst>
        </p14:section>
        <p14:section name="Anexos" id="{856312ce-8002-e20a-c1bb-4075054b9f41}">
          <p14:sldIdLst>
            <p14:sldId id="261"/>
            <p14:sldId id="262"/>
            <p14:sldId id="263"/>
            <p14:sldId id="264"/>
            <p14:sldId id="265"/>
            <p14:sldId id="266"/>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Porcentaje</c:v>
                </c:pt>
              </c:strCache>
            </c:strRef>
          </c:tx>
          <c:spPr>
            <a:solidFill>
              <a:srgbClr val="A3ADB2"/>
            </a:solidFill>
            <a:effectLst/>
          </c:spPr>
          <c:invertIfNegative val="0"/>
          <c:dLbls>
            <c:numFmt formatCode="0.0&quot;%&quot;" sourceLinked="0"/>
            <c:txPr>
              <a:bodyPr/>
              <a:lstStyle/>
              <a:p>
                <a:pPr>
                  <a:defRPr b="0" i="0" strike="noStrike" sz="1200" u="none">
                    <a:solidFill>
                      <a:srgbClr val="1F2A2E"/>
                    </a:solidFill>
                    <a:latin typeface="+mn-lt"/>
                  </a:defRPr>
                </a:pPr>
              </a:p>
            </c:txPr>
            <c:showLegendKey val="0"/>
            <c:showVal val="1"/>
            <c:showCatName val="0"/>
            <c:showSerName val="0"/>
            <c:showPercent val="0"/>
            <c:showBubbleSize val="0"/>
            <c:showLeaderLines val="0"/>
          </c:dLbls>
          <c:dPt>
            <c:idx val="0"/>
            <c:invertIfNegative val="0"/>
            <c:bubble3D val="0"/>
            <c:spPr>
              <a:solidFill>
                <a:srgbClr val="A3ADB2"/>
              </a:solidFill>
              <a:effectLst/>
            </c:spPr>
          </c:dPt>
          <c:dPt>
            <c:idx val="1"/>
            <c:invertIfNegative val="0"/>
            <c:bubble3D val="0"/>
            <c:spPr>
              <a:solidFill>
                <a:srgbClr val="2A9D8F"/>
              </a:solidFill>
              <a:effectLst/>
            </c:spPr>
          </c:dPt>
          <c:dPt>
            <c:idx val="2"/>
            <c:invertIfNegative val="0"/>
            <c:bubble3D val="0"/>
            <c:spPr>
              <a:solidFill>
                <a:srgbClr val="E09F3E"/>
              </a:solidFill>
              <a:effectLst/>
            </c:spPr>
          </c:dPt>
          <c:cat>
            <c:multiLvlStrRef>
              <c:f>Sheet1!$A$2:$A$4</c:f>
              <c:multiLvlStrCache>
                <c:ptCount val="3"/>
                <c:lvl>
                  <c:pt idx="0">
                    <c:v>Dato del caso: usa banca móvil (60+)</c:v>
                  </c:pt>
                  <c:pt idx="1">
                    <c:v>Acceso a internet (65+)</c:v>
                  </c:pt>
                  <c:pt idx="2">
                    <c:v>Uso regular de internet (65+)</c:v>
                  </c:pt>
                </c:lvl>
              </c:multiLvlStrCache>
            </c:multiLvlStrRef>
          </c:cat>
          <c:val>
            <c:numRef>
              <c:f>Sheet1!$B$2:$B$4</c:f>
              <c:numCache>
                <c:formatCode>General</c:formatCode>
                <c:ptCount val="3"/>
                <c:pt idx="0">
                  <c:v>68</c:v>
                </c:pt>
                <c:pt idx="1">
                  <c:v>36.4</c:v>
                </c:pt>
                <c:pt idx="2">
                  <c:v>18.1</c:v>
                </c:pt>
              </c:numCache>
            </c:numRef>
          </c:val>
        </c:ser>
        <c:dLbls>
          <c:numFmt formatCode="0.0&quot;%&quot;" sourceLinked="0"/>
          <c:txPr>
            <a:bodyPr/>
            <a:lstStyle/>
            <a:p>
              <a:pPr>
                <a:defRPr b="0" i="0" strike="noStrike" sz="1200" u="none">
                  <a:solidFill>
                    <a:srgbClr val="1F2A2E"/>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F2A2E"/>
                </a:solidFill>
                <a:latin typeface="+mn-lt"/>
              </a:defRPr>
            </a:pPr>
            <a:endParaRPr lang="en-US"/>
          </a:p>
        </c:txPr>
        <c:crossAx val="2094734552"/>
        <c:crosses val="autoZero"/>
        <c:auto val="1"/>
        <c:lblAlgn val="ctr"/>
        <c:noMultiLvlLbl val="1"/>
      </c:catAx>
      <c:valAx>
        <c:axId val="2094734552"/>
        <c:scaling>
          <c:orientation val="minMax"/>
          <c:max val="8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Puntaje</c:v>
                </c:pt>
              </c:strCache>
            </c:strRef>
          </c:tx>
          <c:spPr>
            <a:solidFill>
              <a:srgbClr val="0F4C45"/>
            </a:solidFill>
            <a:effectLst/>
          </c:spPr>
          <c:invertIfNegative val="0"/>
          <c:dLbls>
            <c:numFmt formatCode="0.00" sourceLinked="0"/>
            <c:txPr>
              <a:bodyPr/>
              <a:lstStyle/>
              <a:p>
                <a:pPr>
                  <a:defRPr b="0" i="0" strike="noStrike" sz="1200" u="none">
                    <a:solidFill>
                      <a:srgbClr val="1F2A2E"/>
                    </a:solidFill>
                    <a:latin typeface="+mn-lt"/>
                  </a:defRPr>
                </a:pPr>
              </a:p>
            </c:txPr>
            <c:showLegendKey val="0"/>
            <c:showVal val="1"/>
            <c:showCatName val="0"/>
            <c:showSerName val="0"/>
            <c:showPercent val="0"/>
            <c:showBubbleSize val="0"/>
            <c:showLeaderLines val="0"/>
          </c:dLbls>
          <c:dPt>
            <c:idx val="0"/>
            <c:invertIfNegative val="0"/>
            <c:bubble3D val="0"/>
            <c:spPr>
              <a:solidFill>
                <a:srgbClr val="0F4C45"/>
              </a:solidFill>
              <a:effectLst/>
            </c:spPr>
          </c:dPt>
          <c:dPt>
            <c:idx val="1"/>
            <c:invertIfNegative val="0"/>
            <c:bubble3D val="0"/>
            <c:spPr>
              <a:solidFill>
                <a:srgbClr val="A3ADB2"/>
              </a:solidFill>
              <a:effectLst/>
            </c:spPr>
          </c:dPt>
          <c:dPt>
            <c:idx val="2"/>
            <c:invertIfNegative val="0"/>
            <c:bubble3D val="0"/>
            <c:spPr>
              <a:solidFill>
                <a:srgbClr val="A3ADB2"/>
              </a:solidFill>
              <a:effectLst/>
            </c:spPr>
          </c:dPt>
          <c:dPt>
            <c:idx val="3"/>
            <c:invertIfNegative val="0"/>
            <c:bubble3D val="0"/>
            <c:spPr>
              <a:solidFill>
                <a:srgbClr val="A3ADB2"/>
              </a:solidFill>
              <a:effectLst/>
            </c:spPr>
          </c:dPt>
          <c:dPt>
            <c:idx val="4"/>
            <c:invertIfNegative val="0"/>
            <c:bubble3D val="0"/>
            <c:spPr>
              <a:solidFill>
                <a:srgbClr val="A3ADB2"/>
              </a:solidFill>
              <a:effectLst/>
            </c:spPr>
          </c:dPt>
          <c:dPt>
            <c:idx val="5"/>
            <c:invertIfNegative val="0"/>
            <c:bubble3D val="0"/>
            <c:spPr>
              <a:solidFill>
                <a:srgbClr val="A3ADB2"/>
              </a:solidFill>
              <a:effectLst/>
            </c:spPr>
          </c:dPt>
          <c:cat>
            <c:multiLvlStrRef>
              <c:f>Sheet1!$A$2:$A$7</c:f>
              <c:multiLvlStrCache>
                <c:ptCount val="6"/>
                <c:lvl>
                  <c:pt idx="0">
                    <c:v>Servicio para emisores</c:v>
                  </c:pt>
                  <c:pt idx="1">
                    <c:v>Modo Senior en datáfono</c:v>
                  </c:pt>
                  <c:pt idx="2">
                    <c:v>Alianza con aseguradora</c:v>
                  </c:pt>
                  <c:pt idx="3">
                    <c:v>Analítica para comercios</c:v>
                  </c:pt>
                  <c:pt idx="4">
                    <c:v>Dispersión de subsidios</c:v>
                  </c:pt>
                  <c:pt idx="5">
                    <c:v>Billetera B2C para mayores</c:v>
                  </c:pt>
                </c:lvl>
              </c:multiLvlStrCache>
            </c:multiLvlStrRef>
          </c:cat>
          <c:val>
            <c:numRef>
              <c:f>Sheet1!$B$2:$B$7</c:f>
              <c:numCache>
                <c:formatCode>General</c:formatCode>
                <c:ptCount val="6"/>
                <c:pt idx="0">
                  <c:v>4.45</c:v>
                </c:pt>
                <c:pt idx="1">
                  <c:v>3.1</c:v>
                </c:pt>
                <c:pt idx="2">
                  <c:v>3</c:v>
                </c:pt>
                <c:pt idx="3">
                  <c:v>2.9</c:v>
                </c:pt>
                <c:pt idx="4">
                  <c:v>2.8</c:v>
                </c:pt>
                <c:pt idx="5">
                  <c:v>2.25</c:v>
                </c:pt>
              </c:numCache>
            </c:numRef>
          </c:val>
        </c:ser>
        <c:dLbls>
          <c:numFmt formatCode="0.00" sourceLinked="0"/>
          <c:txPr>
            <a:bodyPr/>
            <a:lstStyle/>
            <a:p>
              <a:pPr>
                <a:defRPr b="0" i="0" strike="noStrike" sz="1200" u="none">
                  <a:solidFill>
                    <a:srgbClr val="1F2A2E"/>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F2A2E"/>
                </a:solidFill>
                <a:latin typeface="+mn-lt"/>
              </a:defRPr>
            </a:pPr>
            <a:endParaRPr lang="en-US"/>
          </a:p>
        </c:txPr>
        <c:crossAx val="2094734552"/>
        <c:crosses val="autoZero"/>
        <c:auto val="1"/>
        <c:lblAlgn val="ctr"/>
        <c:noMultiLvlLbl val="1"/>
      </c:catAx>
      <c:valAx>
        <c:axId val="2094734552"/>
        <c:scaling>
          <c:orientation val="minMax"/>
          <c:max val="5"/>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Conservador</c:v>
                </c:pt>
              </c:strCache>
            </c:strRef>
          </c:tx>
          <c:spPr>
            <a:solidFill>
              <a:srgbClr val="B5533C"/>
            </a:solidFill>
            <a:ln w="38100" cap="flat">
              <a:solidFill>
                <a:srgbClr val="B5533C"/>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circle"/>
            <c:size val="7"/>
            <c:spPr>
              <a:solidFill>
                <a:srgbClr val="B5533C"/>
              </a:solidFill>
              <a:ln w="9525" cap="flat">
                <a:solidFill>
                  <a:srgbClr val="B5533C"/>
                </a:solidFill>
                <a:prstDash val="solid"/>
                <a:round/>
              </a:ln>
              <a:effectLst/>
            </c:spPr>
          </c:marker>
          <c:cat>
            <c:multiLvlStrRef>
              <c:f>Sheet1!$A$2:$A$4</c:f>
              <c:multiLvlStrCache>
                <c:ptCount val="3"/>
                <c:lvl>
                  <c:pt idx="0">
                    <c:v>Año 1</c:v>
                  </c:pt>
                  <c:pt idx="1">
                    <c:v>Año 2</c:v>
                  </c:pt>
                  <c:pt idx="2">
                    <c:v>Año 3</c:v>
                  </c:pt>
                </c:lvl>
              </c:multiLvlStrCache>
            </c:multiLvlStrRef>
          </c:cat>
          <c:val>
            <c:numRef>
              <c:f>Sheet1!$B$2:$B$4</c:f>
              <c:numCache>
                <c:formatCode>General</c:formatCode>
                <c:ptCount val="3"/>
                <c:pt idx="0">
                  <c:v>-1198</c:v>
                </c:pt>
                <c:pt idx="1">
                  <c:v>-1522</c:v>
                </c:pt>
                <c:pt idx="2">
                  <c:v>-1581</c:v>
                </c:pt>
              </c:numCache>
            </c:numRef>
          </c:val>
          <c:smooth val="0"/>
        </c:ser>
        <c:ser>
          <c:idx val="1"/>
          <c:order val="1"/>
          <c:tx>
            <c:strRef>
              <c:f>Sheet1!$C$1</c:f>
              <c:strCache>
                <c:ptCount val="1"/>
                <c:pt idx="0">
                  <c:v>Base</c:v>
                </c:pt>
              </c:strCache>
            </c:strRef>
          </c:tx>
          <c:spPr>
            <a:solidFill>
              <a:srgbClr val="0F4C45"/>
            </a:solidFill>
            <a:ln w="38100" cap="flat">
              <a:solidFill>
                <a:srgbClr val="0F4C45"/>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circle"/>
            <c:size val="7"/>
            <c:spPr>
              <a:solidFill>
                <a:srgbClr val="0F4C45"/>
              </a:solidFill>
              <a:ln w="9525" cap="flat">
                <a:solidFill>
                  <a:srgbClr val="0F4C45"/>
                </a:solidFill>
                <a:prstDash val="solid"/>
                <a:round/>
              </a:ln>
              <a:effectLst/>
            </c:spPr>
          </c:marker>
          <c:cat>
            <c:multiLvlStrRef>
              <c:f>Sheet1!$A$2:$A$4</c:f>
              <c:multiLvlStrCache>
                <c:ptCount val="3"/>
                <c:lvl>
                  <c:pt idx="0">
                    <c:v>Año 1</c:v>
                  </c:pt>
                  <c:pt idx="1">
                    <c:v>Año 2</c:v>
                  </c:pt>
                  <c:pt idx="2">
                    <c:v>Año 3</c:v>
                  </c:pt>
                </c:lvl>
              </c:multiLvlStrCache>
            </c:multiLvlStrRef>
          </c:cat>
          <c:val>
            <c:numRef>
              <c:f>Sheet1!$C$2:$C$4</c:f>
              <c:numCache>
                <c:formatCode>General</c:formatCode>
                <c:ptCount val="3"/>
                <c:pt idx="0">
                  <c:v>-1003</c:v>
                </c:pt>
                <c:pt idx="1">
                  <c:v>-391</c:v>
                </c:pt>
                <c:pt idx="2">
                  <c:v>1195</c:v>
                </c:pt>
              </c:numCache>
            </c:numRef>
          </c:val>
          <c:smooth val="0"/>
        </c:ser>
        <c:ser>
          <c:idx val="2"/>
          <c:order val="2"/>
          <c:tx>
            <c:strRef>
              <c:f>Sheet1!$D$1</c:f>
              <c:strCache>
                <c:ptCount val="1"/>
                <c:pt idx="0">
                  <c:v>Optimista</c:v>
                </c:pt>
              </c:strCache>
            </c:strRef>
          </c:tx>
          <c:spPr>
            <a:solidFill>
              <a:srgbClr val="8CCFC4"/>
            </a:solidFill>
            <a:ln w="38100" cap="flat">
              <a:solidFill>
                <a:srgbClr val="8CCFC4"/>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circle"/>
            <c:size val="7"/>
            <c:spPr>
              <a:solidFill>
                <a:srgbClr val="8CCFC4"/>
              </a:solidFill>
              <a:ln w="9525" cap="flat">
                <a:solidFill>
                  <a:srgbClr val="8CCFC4"/>
                </a:solidFill>
                <a:prstDash val="solid"/>
                <a:round/>
              </a:ln>
              <a:effectLst/>
            </c:spPr>
          </c:marker>
          <c:cat>
            <c:multiLvlStrRef>
              <c:f>Sheet1!$A$2:$A$4</c:f>
              <c:multiLvlStrCache>
                <c:ptCount val="3"/>
                <c:lvl>
                  <c:pt idx="0">
                    <c:v>Año 1</c:v>
                  </c:pt>
                  <c:pt idx="1">
                    <c:v>Año 2</c:v>
                  </c:pt>
                  <c:pt idx="2">
                    <c:v>Año 3</c:v>
                  </c:pt>
                </c:lvl>
              </c:multiLvlStrCache>
            </c:multiLvlStrRef>
          </c:cat>
          <c:val>
            <c:numRef>
              <c:f>Sheet1!$D$2:$D$4</c:f>
              <c:numCache>
                <c:formatCode>General</c:formatCode>
                <c:ptCount val="3"/>
                <c:pt idx="0">
                  <c:v>-830</c:v>
                </c:pt>
                <c:pt idx="1">
                  <c:v>827</c:v>
                </c:pt>
                <c:pt idx="2">
                  <c:v>4690</c:v>
                </c:pt>
              </c:numCache>
            </c:numRef>
          </c:val>
          <c:smooth val="0"/>
        </c:ser>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F2A2E"/>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CE3E1"/>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76B"/>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F2A2E"/>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stacked"/>
        <c:varyColors val="0"/>
        <c:ser>
          <c:idx val="0"/>
          <c:order val="0"/>
          <c:tx>
            <c:strRef>
              <c:f>Sheet1!$B$1</c:f>
              <c:strCache>
                <c:ptCount val="1"/>
                <c:pt idx="0">
                  <c:v>Supuesto −20%</c:v>
                </c:pt>
              </c:strCache>
            </c:strRef>
          </c:tx>
          <c:spPr>
            <a:solidFill>
              <a:srgbClr val="B5533C"/>
            </a:solidFill>
            <a:effectLst/>
          </c:spPr>
          <c:invertIfNegative val="0"/>
          <c:dLbls>
            <c:numFmt formatCode="+#,##0;-#,##0" sourceLinked="0"/>
            <c:txPr>
              <a:bodyPr/>
              <a:lstStyle/>
              <a:p>
                <a:pPr>
                  <a:defRPr b="0" i="0" strike="noStrike" sz="1000" u="none">
                    <a:solidFill>
                      <a:srgbClr val="FFFFFF"/>
                    </a:solidFill>
                    <a:latin typeface="+mn-lt"/>
                  </a:defRPr>
                </a:pPr>
              </a:p>
            </c:txPr>
            <c:dLblPos val="ctr"/>
            <c:showLegendKey val="0"/>
            <c:showVal val="1"/>
            <c:showCatName val="0"/>
            <c:showSerName val="0"/>
            <c:showPercent val="0"/>
            <c:showBubbleSize val="0"/>
            <c:showLeaderLines val="0"/>
          </c:dLbls>
          <c:cat>
            <c:multiLvlStrRef>
              <c:f>Sheet1!$A$2:$A$6</c:f>
              <c:multiLvlStrCache>
                <c:ptCount val="5"/>
                <c:lvl>
                  <c:pt idx="0">
                    <c:v>Cobertura de bancos</c:v>
                  </c:pt>
                  <c:pt idx="1">
                    <c:v>Precio Escudo</c:v>
                  </c:pt>
                  <c:pt idx="2">
                    <c:v>Costos fijos</c:v>
                  </c:pt>
                  <c:pt idx="3">
                    <c:v>Precio Círculo</c:v>
                  </c:pt>
                  <c:pt idx="4">
                    <c:v>Inscripción Círculo</c:v>
                  </c:pt>
                </c:lvl>
              </c:multiLvlStrCache>
            </c:multiLvlStrRef>
          </c:cat>
          <c:val>
            <c:numRef>
              <c:f>Sheet1!$B$2:$B$6</c:f>
              <c:numCache>
                <c:formatCode>General</c:formatCode>
                <c:ptCount val="5"/>
                <c:pt idx="0">
                  <c:v>-499</c:v>
                </c:pt>
                <c:pt idx="1">
                  <c:v>-392</c:v>
                </c:pt>
                <c:pt idx="2">
                  <c:v>233</c:v>
                </c:pt>
                <c:pt idx="3">
                  <c:v>-227</c:v>
                </c:pt>
                <c:pt idx="4">
                  <c:v>-185</c:v>
                </c:pt>
              </c:numCache>
            </c:numRef>
          </c:val>
        </c:ser>
        <c:ser>
          <c:idx val="1"/>
          <c:order val="1"/>
          <c:tx>
            <c:strRef>
              <c:f>Sheet1!$C$1</c:f>
              <c:strCache>
                <c:ptCount val="1"/>
                <c:pt idx="0">
                  <c:v>Supuesto +20%</c:v>
                </c:pt>
              </c:strCache>
            </c:strRef>
          </c:tx>
          <c:spPr>
            <a:solidFill>
              <a:srgbClr val="2A9D8F"/>
            </a:solidFill>
            <a:effectLst/>
          </c:spPr>
          <c:invertIfNegative val="0"/>
          <c:dLbls>
            <c:numFmt formatCode="+#,##0;-#,##0" sourceLinked="0"/>
            <c:txPr>
              <a:bodyPr/>
              <a:lstStyle/>
              <a:p>
                <a:pPr>
                  <a:defRPr b="0" i="0" strike="noStrike" sz="1000" u="none">
                    <a:solidFill>
                      <a:srgbClr val="FFFFFF"/>
                    </a:solidFill>
                    <a:latin typeface="+mn-lt"/>
                  </a:defRPr>
                </a:pPr>
              </a:p>
            </c:txPr>
            <c:dLblPos val="ctr"/>
            <c:showLegendKey val="0"/>
            <c:showVal val="1"/>
            <c:showCatName val="0"/>
            <c:showSerName val="0"/>
            <c:showPercent val="0"/>
            <c:showBubbleSize val="0"/>
            <c:showLeaderLines val="0"/>
          </c:dLbls>
          <c:cat>
            <c:multiLvlStrRef>
              <c:f>Sheet1!$A$2:$A$6</c:f>
              <c:multiLvlStrCache>
                <c:ptCount val="5"/>
                <c:lvl>
                  <c:pt idx="0">
                    <c:v>Cobertura de bancos</c:v>
                  </c:pt>
                  <c:pt idx="1">
                    <c:v>Precio Escudo</c:v>
                  </c:pt>
                  <c:pt idx="2">
                    <c:v>Costos fijos</c:v>
                  </c:pt>
                  <c:pt idx="3">
                    <c:v>Precio Círculo</c:v>
                  </c:pt>
                  <c:pt idx="4">
                    <c:v>Inscripción Círculo</c:v>
                  </c:pt>
                </c:lvl>
              </c:multiLvlStrCache>
            </c:multiLvlStrRef>
          </c:cat>
          <c:val>
            <c:numRef>
              <c:f>Sheet1!$C$2:$C$6</c:f>
              <c:numCache>
                <c:formatCode>General</c:formatCode>
                <c:ptCount val="5"/>
                <c:pt idx="0">
                  <c:v>499</c:v>
                </c:pt>
                <c:pt idx="1">
                  <c:v>392</c:v>
                </c:pt>
                <c:pt idx="2">
                  <c:v>-233</c:v>
                </c:pt>
                <c:pt idx="3">
                  <c:v>227</c:v>
                </c:pt>
                <c:pt idx="4">
                  <c:v>185</c:v>
                </c:pt>
              </c:numCache>
            </c:numRef>
          </c:val>
        </c:ser>
        <c:dLbls>
          <c:numFmt formatCode="+#,##0;-#,##0" sourceLinked="0"/>
          <c:txPr>
            <a:bodyPr/>
            <a:lstStyle/>
            <a:p>
              <a:pPr>
                <a:defRPr b="0" i="0" strike="noStrike" sz="1000" u="none">
                  <a:solidFill>
                    <a:srgbClr val="FFFFFF"/>
                  </a:solidFill>
                  <a:latin typeface="+mn-lt"/>
                </a:defRPr>
              </a:pPr>
            </a:p>
          </c:txPr>
          <c:dLblPos val="ctr"/>
          <c:showLegendKey val="0"/>
          <c:showVal val="1"/>
          <c:showCatName val="0"/>
          <c:showSerName val="0"/>
          <c:showPercent val="0"/>
          <c:showBubbleSize val="0"/>
          <c:showLeaderLines val="0"/>
        </c:dLbls>
        <c:gapWidth val="45"/>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F2A2E"/>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F2A2E"/>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 Empecé cuestionando los datos del caso. El más importante: el caso dice que el 68% de las personas de 60+ ya usa banca móvil. No encontré ese estudio, y el DANE dice lo contrario: solo el 18% de los mayores de 65 usa internet con regularidad. Si el 68% fuera cierto, la solución sería solo digital; como es falso, tiene que ser asistida.
La oportunidad es real: 8 millones de personas de 60+, el 15,5% de la población, y 2,1 millones de pensionados reciben su mesada en una cuenta. Tienen ingresos estables… pero pagan en efectivo. ¿Por qué? Por desconfianza: son el blanco principal de las estafas y, con Bre-B, una transferencia es inmediata e irrevocable. Hoy delegan de forma informal: le dan la clave al hijo o al vecino.
Somos B2B2C: usan la persona mayor y su familiar; paga y decide el banco emisor; distribuye el banco. Prioricé 60–74 años bancarizados porque podemos llegar ya a través de los bancos. 75+ y no bancarizados: fase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 min) Evalué siete alternativas, incluida no hacer nada, con una matriz de cinco criterios: valor para el usuario, disposición a pagar del banco, ajuste con nuestras capacidades, tiempo a mercado y riesgo (detalle en el Anexo C).
Descarté la billetera para mayores porque competiría con nuestros clientes, los bancos. Descarté por ahora la analítica para comercios porque, como red, no conocemos la edad de quien paga. Y descarté no intervenir porque el problema está probado y el riesgo se acota con un piloto.
Ganó, con 4,45 sobre 5, un servicio de valor agregado para emisores. La propuesta de valor cambia según el actor: autonomía para la persona mayor, tranquilidad para el familiar y menos fraude y más uso para el banco.
Renuncias conscientes: escala vía bancos a cambio de no controlar toda la experiencia; reglas explicables antes que IA; autonomía por encima de sobreprotección. Y lo que no haríamos: ser banco o aseguradora, vender B2C o darle al familiar acceso al dinero.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 min) Dos módulos sobre la infraestructura que ya tenemos.
Escudo Senior: el banco marca qué tarjetas son de clientes 60+ y aplicamos reglas de fraude ajustadas a sus patrones. No rechazamos de una: primero verificamos por WhatsApp o llamada, para no frustrar a la persona. Si es fraude, bloquea con un botón.
Círculo de Confianza (opcional): la persona elige hasta dos personas de confianza, que reciben alertas, acuerdan límites y pueden co-aprobar una compra en línea riesgosa con 3-D Secure. El familiar nunca ve la clave ni mueve dinero, y la persona puede quitarle el permiso cuando quiera. Ojo: la co-aprobación es solo en línea; en datáfono funcionan límites y alertas.
Historia: doña Marta, 68 años, va a cobrar su mesada; el asesor le ofrece el servicio; en 5 minutos se inscribe con ayuda de su hija; sigue pagando igual; si llega una compra rara la llaman y su hija recibe un aviso; si algo pasa, la atiende una persona.
Canal asistido obligatorio (82% de los 65+ no usa internet con regularidad). Seguridad: PCI DSS, tokenización, Ley 1581 y protección contra el abuso del propio familiar. IA solo si las reglas no alcanzan.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No les pido fe, les pido datos. Cinco hipótesis, cada una con un umbral (Anexo E): inscripción de al menos 20% de los invitados; 60% de los familiares activos a los 60 días; 30% menos fraude frente a un grupo de control; al menos 2 de 5 bancos firman carta de intención con precio; integración en 8 semanas o menos.
MVP: un banco, 5.000 tarjetas, 12 semanas y grupo de control para saber si el cambio lo causa la solución. North Star: personas inscritas que hacen 4 o más pagos digitales al mes, porque mide uso real.
Kill criteria definidos desde hoy: inscripción menor al 10%, sin mejora en fraude ni uso frente al control, ningún banco dispuesto a pagar, o casos de abuso del familiar.
Roadmap de 12 meses con tres decisiones: G1 al mes 2 (2+ cartas de intención), G2 al mes 4 (las personas mayores logran usarlo), G3 al mes 7 (kill criteria). Solo si pasa, lanzamos con 2–3 bancos y escalamos a Bre-B y alianzas. Dependencias: datos de edad y fraude del banco, proveedor 3-D Secure, WhatsApp. Equipo: squad de 7 personas más jurídico y ventas.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 min) Todo en pesos colombianos, base 2025; detalle y Excel en el Anexo F.
Embudo: 8 millones de personas 60+ (TAM); 3,5 millones con tarjeta activa (SAM); 1,4 millones en bancos que trabajan con nosotros (SOM); en el año 3, 560 mil tarjetas protegidas por el Escudo y 78 mil inscritas en el Círculo.
Ingresos: el banco paga COP 250 al mes por tarjeta protegida y COP 1.200 por persona inscrita, más un pequeño ingreso por compras que antes eran en efectivo.
Escenario base: inversión de COP 800 M; ROI a 3 años de 149%; VAN al 15% de COP 633 M; payback de 27 meses. El gráfico muestra cuándo cada escenario cruza cero.
Transparencia: el conservador pierde dinero. Por eso no pido aprobar todo: el piloto limita la pérdida a ≈COP 850 M. Ponderando escenarios, el valor esperado es positivo (≈COP 753 M). Punto de equilibrio: 168 mil tarjetas. Precio mínimo del Escudo: COP 169. La variable más sensible es cuántos bancos firman; por eso el gate 1 son cartas de intención.
Cierre: la Silver Economy sí es oportunidad, por confianza y no por edad. Aprobado con condiciones. Lo que más me ayudaría: participación en procesamiento de emisores, datos de fraude por edad y apetito para vender servicios a bancos.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anexos no se presentan: se usan para responder preguntas del panel.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Úsalo si preguntan cómo validaste la información o qué datos estaban mal. Es la mejor prueba de pensamiento crítico.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Úsalo si preguntan de dónde sale un número o qué información faltó.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 qué 60+ y no 50+? Las necesidades distintas (brecha digital, fraude, dependencia) aparecen desde los 60; además es la definición legal (Ley 1251) y la del DANE, lo que permite medir de forma consistente.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Úsalo si preguntan cómo funciona técnicamente o quién gana qué. Punto clave: Credibanco no conoce la edad del tarjetahabiente; la marca el banco por 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el piloto da resultados mixtos: si el banco paga pero la gente no se inscribe, me quedo con el Escudo y rediseño el Círculo; si la gente lo ama pero nadie paga, paro o busco otro pagador.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Metodología igual en los 3 escenarios: ROI = (Σ EBITDA 3 años − inversión) / inversión; VAN sobre flujos netos a 3 años, sin valor terminal; payback = meses hasta flujo acumulado ≥ 0. Modelo completo en el Excel.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variable que más mueve el VAN es cuántos bancos firman (cobertura). Por eso el gate 1 exige cartas de intención. El optimista es alto porque los costos fijos casi no crecen con el volumen; la decisión se toma con el 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IDO">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64240" cy="292608"/>
          </a:xfrm>
          <a:prstGeom prst="rect">
            <a:avLst/>
          </a:prstGeom>
          <a:noFill/>
          <a:ln/>
        </p:spPr>
        <p:txBody>
          <a:bodyPr wrap="square" rtlCol="0"/>
          <a:lstStyle>
            <a:lvl1pPr indent="0" marL="0">
              <a:buNone/>
              <a:defRPr lang="en-US" sz="1200" b="1" spc="200" kern="0" dirty="0">
                <a:solidFill>
                  <a:schemeClr val="accent2"/>
                </a:solidFill>
              </a:defRPr>
            </a:lvl1pPr>
          </a:lstStyle>
          <a:p>
            <a:pPr indent="0" marL="0">
              <a:buNone/>
            </a:pPr>
            <a:endParaRPr lang="en-US" sz="1200" dirty="0"/>
          </a:p>
        </p:txBody>
      </p:sp>
      <p:sp>
        <p:nvSpPr>
          <p:cNvPr id="3" name="Text 0"/>
          <p:cNvSpPr/>
          <p:nvPr>
            <p:ph idx="101" type="title" hasCustomPrompt="1"/>
          </p:nvPr>
        </p:nvSpPr>
        <p:spPr>
          <a:xfrm>
            <a:off x="548640" y="640080"/>
            <a:ext cx="11064240" cy="685800"/>
          </a:xfrm>
          <a:prstGeom prst="rect">
            <a:avLst/>
          </a:prstGeom>
          <a:noFill/>
          <a:ln/>
        </p:spPr>
        <p:txBody>
          <a:bodyPr wrap="square" rtlCol="0"/>
          <a:lstStyle>
            <a:lvl1pPr algn="l" indent="0" marL="0">
              <a:buNone/>
              <a:defRPr lang="en-US" sz="30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4" name="Text 0"/>
          <p:cNvSpPr/>
          <p:nvPr/>
        </p:nvSpPr>
        <p:spPr>
          <a:xfrm>
            <a:off x="548640" y="6419088"/>
            <a:ext cx="8229600" cy="274320"/>
          </a:xfrm>
          <a:prstGeom prst="rect">
            <a:avLst/>
          </a:prstGeom>
          <a:noFill/>
          <a:ln/>
        </p:spPr>
        <p:txBody>
          <a:bodyPr wrap="square" lIns="0" tIns="0" rIns="0" bIns="0" rtlCol="0" anchor="ctr"/>
          <a:lstStyle/>
          <a:p>
            <a:pPr indent="0" marL="0">
              <a:buNone/>
            </a:pPr>
            <a:r>
              <a:rPr lang="en-US" sz="900" dirty="0">
                <a:solidFill>
                  <a:schemeClr val="accent4"/>
                </a:solidFill>
              </a:rPr>
              <a:t>Assessment Especialista de Producto · Silver Economy · Red de Confianza</a:t>
            </a:r>
            <a:endParaRPr lang="en-US" sz="9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SOR">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10515600" cy="1097280"/>
          </a:xfrm>
          <a:prstGeom prst="rect">
            <a:avLst/>
          </a:prstGeom>
          <a:noFill/>
          <a:ln/>
        </p:spPr>
        <p:txBody>
          <a:bodyPr wrap="square" rtlCol="0"/>
          <a:lstStyle>
            <a:lvl1pPr algn="l" indent="0" marL="0">
              <a:buNone/>
              <a:defRPr lang="en-US" sz="4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383280"/>
            <a:ext cx="10515600" cy="2377440"/>
          </a:xfrm>
          <a:prstGeom prst="rect">
            <a:avLst/>
          </a:prstGeom>
          <a:noFill/>
          <a:ln/>
        </p:spPr>
        <p:txBody>
          <a:bodyPr wrap="square" rtlCol="0"/>
          <a:lstStyle>
            <a:lvl1pPr indent="0" marL="0">
              <a:buNone/>
              <a:defRPr lang="en-US" sz="1800" dirty="0">
                <a:solidFill>
                  <a:schemeClr val="accent5"/>
                </a:solidFill>
              </a:defRPr>
            </a:lvl1pPr>
          </a:lstStyle>
          <a:p>
            <a:pPr indent="0" marL="0">
              <a:buNone/>
            </a:pPr>
            <a:endParaRPr lang="en-US" sz="1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slideLayout" Target="../slideLayouts/slideLayout2.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png"/><Relationship Id="rId6" Type="http://schemas.openxmlformats.org/officeDocument/2006/relationships/slideLayout" Target="../slideLayouts/slideLayout2.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64240" cy="292608"/>
          </a:xfrm>
          <a:prstGeom prst="rect">
            <a:avLst/>
          </a:prstGeom>
          <a:noFill/>
          <a:ln/>
        </p:spPr>
        <p:txBody>
          <a:bodyPr wrap="square" lIns="0" tIns="0" rIns="0" bIns="0" rtlCol="0" anchor="t"/>
          <a:lstStyle/>
          <a:p>
            <a:pPr indent="0" marL="0">
              <a:buNone/>
            </a:pPr>
            <a:r>
              <a:rPr lang="en-US" sz="1200" b="1" spc="200" kern="0" dirty="0">
                <a:solidFill>
                  <a:schemeClr val="accent2"/>
                </a:solidFill>
              </a:rPr>
              <a:t>1 · DIAGNÓSTICO</a:t>
            </a:r>
            <a:endParaRPr lang="en-US" sz="1200" dirty="0"/>
          </a:p>
        </p:txBody>
      </p:sp>
      <p:sp>
        <p:nvSpPr>
          <p:cNvPr id="3" name="Text 0"/>
          <p:cNvSpPr/>
          <p:nvPr>
            <p:ph idx="101" type="title" hasCustomPrompt="1"/>
          </p:nvPr>
        </p:nvSpPr>
        <p:spPr>
          <a:xfrm>
            <a:off x="548640" y="640080"/>
            <a:ext cx="11064240" cy="685800"/>
          </a:xfrm>
          <a:prstGeom prst="rect">
            <a:avLst/>
          </a:prstGeom>
          <a:noFill/>
          <a:ln/>
        </p:spPr>
        <p:txBody>
          <a:bodyPr wrap="square" lIns="0" tIns="0" rIns="0" bIns="0" rtlCol="0" anchor="t"/>
          <a:lstStyle/>
          <a:p>
            <a:pPr algn="l" indent="0" marL="0">
              <a:buNone/>
            </a:pPr>
            <a:r>
              <a:rPr lang="en-US" sz="3000" b="1" dirty="0">
                <a:solidFill>
                  <a:schemeClr val="tx2"/>
                </a:solidFill>
                <a:latin typeface="Cambria" pitchFamily="34" charset="0"/>
                <a:ea typeface="Cambria" pitchFamily="34" charset="-122"/>
                <a:cs typeface="Cambria" pitchFamily="34" charset="-120"/>
              </a:rPr>
              <a:t>El problema no es la edad: es la confianza para pagar digital</a:t>
            </a:r>
            <a:endParaRPr lang="en-US" sz="3000" dirty="0"/>
          </a:p>
        </p:txBody>
      </p:sp>
      <p:sp>
        <p:nvSpPr>
          <p:cNvPr id="4" name="Recomendación"/>
          <p:cNvSpPr txBox="1"/>
          <p:nvPr/>
        </p:nvSpPr>
        <p:spPr>
          <a:xfrm>
            <a:off x="548640" y="1371600"/>
            <a:ext cx="11064240" cy="365760"/>
          </a:xfrm>
          <a:prstGeom prst="rect">
            <a:avLst/>
          </a:prstGeom>
          <a:noFill/>
          <a:ln/>
        </p:spPr>
        <p:txBody>
          <a:bodyPr wrap="square" lIns="0" tIns="0" rIns="0" bIns="0" rtlCol="0" anchor="t"/>
          <a:lstStyle/>
          <a:p>
            <a:pPr indent="0" marL="0">
              <a:buNone/>
            </a:pPr>
            <a:r>
              <a:rPr lang="en-US" sz="1600" b="1" dirty="0">
                <a:solidFill>
                  <a:schemeClr val="accent1"/>
                </a:solidFill>
              </a:rPr>
              <a:t>Recomendación: </a:t>
            </a:r>
            <a:pPr indent="0" marL="0">
              <a:buNone/>
            </a:pPr>
            <a:r>
              <a:rPr lang="en-US" sz="1600" dirty="0">
                <a:solidFill>
                  <a:schemeClr val="tx1"/>
                </a:solidFill>
              </a:rPr>
              <a:t>intervenir con un piloto pequeño y reversible, no con un producto nuevo para el consumidor.</a:t>
            </a:r>
            <a:endParaRPr lang="en-US" sz="1600" dirty="0"/>
          </a:p>
        </p:txBody>
      </p:sp>
      <p:sp>
        <p:nvSpPr>
          <p:cNvPr id="5" name="Dato 1"/>
          <p:cNvSpPr txBox="1"/>
          <p:nvPr/>
        </p:nvSpPr>
        <p:spPr>
          <a:xfrm>
            <a:off x="548640" y="1965960"/>
            <a:ext cx="1737360" cy="73152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8,0 M</a:t>
            </a:r>
            <a:endParaRPr lang="en-US" sz="4000" dirty="0"/>
          </a:p>
        </p:txBody>
      </p:sp>
      <p:sp>
        <p:nvSpPr>
          <p:cNvPr id="6" name="Etiqueta dato 1"/>
          <p:cNvSpPr txBox="1"/>
          <p:nvPr/>
        </p:nvSpPr>
        <p:spPr>
          <a:xfrm>
            <a:off x="2377440" y="2011680"/>
            <a:ext cx="3291840" cy="685800"/>
          </a:xfrm>
          <a:prstGeom prst="rect">
            <a:avLst/>
          </a:prstGeom>
          <a:noFill/>
          <a:ln/>
        </p:spPr>
        <p:txBody>
          <a:bodyPr wrap="square" lIns="0" tIns="0" rIns="0" bIns="0" rtlCol="0" anchor="ctr"/>
          <a:lstStyle/>
          <a:p>
            <a:pPr indent="0" marL="0">
              <a:buNone/>
            </a:pPr>
            <a:r>
              <a:rPr lang="en-US" sz="1400" dirty="0">
                <a:solidFill>
                  <a:schemeClr val="tx1"/>
                </a:solidFill>
              </a:rPr>
              <a:t>personas de 60+ en Colombia (≈15,5% de la población, DANE)</a:t>
            </a:r>
            <a:endParaRPr lang="en-US" sz="1400" dirty="0"/>
          </a:p>
        </p:txBody>
      </p:sp>
      <p:sp>
        <p:nvSpPr>
          <p:cNvPr id="7" name="Dato 2"/>
          <p:cNvSpPr txBox="1"/>
          <p:nvPr/>
        </p:nvSpPr>
        <p:spPr>
          <a:xfrm>
            <a:off x="548640" y="2953512"/>
            <a:ext cx="1737360" cy="73152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2,1 M</a:t>
            </a:r>
            <a:endParaRPr lang="en-US" sz="4000" dirty="0"/>
          </a:p>
        </p:txBody>
      </p:sp>
      <p:sp>
        <p:nvSpPr>
          <p:cNvPr id="8" name="Etiqueta dato 2"/>
          <p:cNvSpPr txBox="1"/>
          <p:nvPr/>
        </p:nvSpPr>
        <p:spPr>
          <a:xfrm>
            <a:off x="2377440" y="2999232"/>
            <a:ext cx="3291840" cy="685800"/>
          </a:xfrm>
          <a:prstGeom prst="rect">
            <a:avLst/>
          </a:prstGeom>
          <a:noFill/>
          <a:ln/>
        </p:spPr>
        <p:txBody>
          <a:bodyPr wrap="square" lIns="0" tIns="0" rIns="0" bIns="0" rtlCol="0" anchor="ctr"/>
          <a:lstStyle/>
          <a:p>
            <a:pPr indent="0" marL="0">
              <a:buNone/>
            </a:pPr>
            <a:r>
              <a:rPr lang="en-US" sz="1400" dirty="0">
                <a:solidFill>
                  <a:schemeClr val="tx1"/>
                </a:solidFill>
              </a:rPr>
              <a:t>pensionados reciben su mesada en una cuenta (SFC, 2024)</a:t>
            </a:r>
            <a:endParaRPr lang="en-US" sz="1400" dirty="0"/>
          </a:p>
        </p:txBody>
      </p:sp>
      <p:sp>
        <p:nvSpPr>
          <p:cNvPr id="9" name="Dato 3"/>
          <p:cNvSpPr txBox="1"/>
          <p:nvPr/>
        </p:nvSpPr>
        <p:spPr>
          <a:xfrm>
            <a:off x="548640" y="3941064"/>
            <a:ext cx="1737360" cy="73152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≈78%</a:t>
            </a:r>
            <a:endParaRPr lang="en-US" sz="4000" dirty="0"/>
          </a:p>
        </p:txBody>
      </p:sp>
      <p:sp>
        <p:nvSpPr>
          <p:cNvPr id="10" name="Etiqueta dato 3"/>
          <p:cNvSpPr txBox="1"/>
          <p:nvPr/>
        </p:nvSpPr>
        <p:spPr>
          <a:xfrm>
            <a:off x="2377440" y="3986784"/>
            <a:ext cx="3291840" cy="685800"/>
          </a:xfrm>
          <a:prstGeom prst="rect">
            <a:avLst/>
          </a:prstGeom>
          <a:noFill/>
          <a:ln/>
        </p:spPr>
        <p:txBody>
          <a:bodyPr wrap="square" lIns="0" tIns="0" rIns="0" bIns="0" rtlCol="0" anchor="ctr"/>
          <a:lstStyle/>
          <a:p>
            <a:pPr indent="0" marL="0">
              <a:buNone/>
            </a:pPr>
            <a:r>
              <a:rPr lang="en-US" sz="1400" dirty="0">
                <a:solidFill>
                  <a:schemeClr val="tx1"/>
                </a:solidFill>
              </a:rPr>
              <a:t>de las transacciones todavía se hacen en efectivo (BanRep)</a:t>
            </a:r>
            <a:endParaRPr lang="en-US" sz="1400" dirty="0"/>
          </a:p>
        </p:txBody>
      </p:sp>
      <p:sp>
        <p:nvSpPr>
          <p:cNvPr id="11" name="Tarjeta gráfico brecha digital"/>
          <p:cNvSpPr/>
          <p:nvPr/>
        </p:nvSpPr>
        <p:spPr>
          <a:xfrm>
            <a:off x="6172200" y="1828800"/>
            <a:ext cx="5440680" cy="3063240"/>
          </a:xfrm>
          <a:prstGeom prst="roundRect">
            <a:avLst>
              <a:gd name="adj" fmla="val 3582"/>
            </a:avLst>
          </a:prstGeom>
          <a:solidFill>
            <a:schemeClr val="bg2"/>
          </a:solidFill>
          <a:ln/>
        </p:spPr>
      </p:sp>
      <p:sp>
        <p:nvSpPr>
          <p:cNvPr id="12" name="Título gráfico brecha"/>
          <p:cNvSpPr txBox="1"/>
          <p:nvPr/>
        </p:nvSpPr>
        <p:spPr>
          <a:xfrm>
            <a:off x="6400800" y="1965960"/>
            <a:ext cx="5029200" cy="320040"/>
          </a:xfrm>
          <a:prstGeom prst="rect">
            <a:avLst/>
          </a:prstGeom>
          <a:noFill/>
          <a:ln/>
        </p:spPr>
        <p:txBody>
          <a:bodyPr wrap="square" lIns="0" tIns="0" rIns="0" bIns="0" rtlCol="0" anchor="t"/>
          <a:lstStyle/>
          <a:p>
            <a:pPr indent="0" marL="0">
              <a:buNone/>
            </a:pPr>
            <a:r>
              <a:rPr lang="en-US" sz="1500" b="1" dirty="0">
                <a:solidFill>
                  <a:schemeClr val="tx2"/>
                </a:solidFill>
              </a:rPr>
              <a:t>¿Ya pagan digital? El 68% del caso no se sostiene</a:t>
            </a:r>
            <a:endParaRPr lang="en-US" sz="1500" dirty="0"/>
          </a:p>
        </p:txBody>
      </p:sp>
      <p:graphicFrame>
        <p:nvGraphicFramePr>
          <p:cNvPr id="13" name="Gráfico brecha digital" descr=""/>
          <p:cNvGraphicFramePr/>
          <p:nvPr/>
        </p:nvGraphicFramePr>
        <p:xfrm>
          <a:off x="6309360" y="2286000"/>
          <a:ext cx="5212080" cy="2331720"/>
        </p:xfrm>
        <a:graphic xmlns:a="http://schemas.openxmlformats.org/drawingml/2006/main">
          <a:graphicData uri="http://schemas.openxmlformats.org/drawingml/2006/chart">
            <c:chart xmlns:c="http://schemas.openxmlformats.org/drawingml/2006/chart" r:id="rId1"/>
          </a:graphicData>
        </a:graphic>
      </p:graphicFrame>
      <p:sp>
        <p:nvSpPr>
          <p:cNvPr id="14" name="Fuente gráfico brecha"/>
          <p:cNvSpPr txBox="1"/>
          <p:nvPr/>
        </p:nvSpPr>
        <p:spPr>
          <a:xfrm>
            <a:off x="6400800" y="4572000"/>
            <a:ext cx="5029200" cy="256032"/>
          </a:xfrm>
          <a:prstGeom prst="rect">
            <a:avLst/>
          </a:prstGeom>
          <a:noFill/>
          <a:ln/>
        </p:spPr>
        <p:txBody>
          <a:bodyPr wrap="square" lIns="0" tIns="0" rIns="0" bIns="0" rtlCol="0" anchor="t"/>
          <a:lstStyle/>
          <a:p>
            <a:pPr indent="0" marL="0">
              <a:buNone/>
            </a:pPr>
            <a:r>
              <a:rPr lang="en-US" sz="1000" dirty="0">
                <a:solidFill>
                  <a:schemeClr val="accent4"/>
                </a:solidFill>
              </a:rPr>
              <a:t>Fuente: DANE 2021 (65+). El 68% no tiene fuente verificable.</a:t>
            </a:r>
            <a:endParaRPr lang="en-US" sz="1000" dirty="0"/>
          </a:p>
        </p:txBody>
      </p:sp>
      <p:sp>
        <p:nvSpPr>
          <p:cNvPr id="15" name="Rol 1 círculo"/>
          <p:cNvSpPr/>
          <p:nvPr/>
        </p:nvSpPr>
        <p:spPr>
          <a:xfrm>
            <a:off x="548640" y="5257800"/>
            <a:ext cx="640080" cy="640080"/>
          </a:xfrm>
          <a:prstGeom prst="ellipse">
            <a:avLst/>
          </a:prstGeom>
          <a:solidFill>
            <a:schemeClr val="accent1"/>
          </a:solidFill>
          <a:ln/>
        </p:spPr>
      </p:sp>
      <p:pic>
        <p:nvPicPr>
          <p:cNvPr id="16" name="Rol 1 icono" descr="preencoded.png">    </p:cNvPr>
          <p:cNvPicPr>
            <a:picLocks noChangeAspect="1"/>
          </p:cNvPicPr>
          <p:nvPr/>
        </p:nvPicPr>
        <p:blipFill>
          <a:blip r:embed="rId2"/>
          <a:stretch>
            <a:fillRect/>
          </a:stretch>
        </p:blipFill>
        <p:spPr>
          <a:xfrm>
            <a:off x="702259" y="5411419"/>
            <a:ext cx="332842" cy="332842"/>
          </a:xfrm>
          <a:prstGeom prst="rect">
            <a:avLst/>
          </a:prstGeom>
        </p:spPr>
      </p:pic>
      <p:sp>
        <p:nvSpPr>
          <p:cNvPr id="17" name="Rol título 1"/>
          <p:cNvSpPr txBox="1"/>
          <p:nvPr/>
        </p:nvSpPr>
        <p:spPr>
          <a:xfrm>
            <a:off x="1325880" y="5230368"/>
            <a:ext cx="2834640" cy="274320"/>
          </a:xfrm>
          <a:prstGeom prst="rect">
            <a:avLst/>
          </a:prstGeom>
          <a:noFill/>
          <a:ln/>
        </p:spPr>
        <p:txBody>
          <a:bodyPr wrap="square" lIns="0" tIns="0" rIns="0" bIns="0" rtlCol="0" anchor="t"/>
          <a:lstStyle/>
          <a:p>
            <a:pPr indent="0" marL="0">
              <a:buNone/>
            </a:pPr>
            <a:r>
              <a:rPr lang="en-US" sz="1400" b="1" dirty="0">
                <a:solidFill>
                  <a:schemeClr val="accent1"/>
                </a:solidFill>
              </a:rPr>
              <a:t>Usan</a:t>
            </a:r>
            <a:endParaRPr lang="en-US" sz="1400" dirty="0"/>
          </a:p>
        </p:txBody>
      </p:sp>
      <p:sp>
        <p:nvSpPr>
          <p:cNvPr id="18" name="Rol texto 1"/>
          <p:cNvSpPr txBox="1"/>
          <p:nvPr/>
        </p:nvSpPr>
        <p:spPr>
          <a:xfrm>
            <a:off x="1325880" y="5504688"/>
            <a:ext cx="2834640" cy="548640"/>
          </a:xfrm>
          <a:prstGeom prst="rect">
            <a:avLst/>
          </a:prstGeom>
          <a:noFill/>
          <a:ln/>
        </p:spPr>
        <p:txBody>
          <a:bodyPr wrap="square" lIns="0" tIns="0" rIns="0" bIns="0" rtlCol="0" anchor="t"/>
          <a:lstStyle/>
          <a:p>
            <a:pPr indent="0" marL="0">
              <a:buNone/>
            </a:pPr>
            <a:r>
              <a:rPr lang="en-US" sz="1300" dirty="0">
                <a:solidFill>
                  <a:schemeClr val="tx1"/>
                </a:solidFill>
              </a:rPr>
              <a:t>La persona de 60+ y su familiar o cuidador</a:t>
            </a:r>
            <a:endParaRPr lang="en-US" sz="1300" dirty="0"/>
          </a:p>
        </p:txBody>
      </p:sp>
      <p:sp>
        <p:nvSpPr>
          <p:cNvPr id="19" name="Rol 2 círculo"/>
          <p:cNvSpPr/>
          <p:nvPr/>
        </p:nvSpPr>
        <p:spPr>
          <a:xfrm>
            <a:off x="4297680" y="5257800"/>
            <a:ext cx="640080" cy="640080"/>
          </a:xfrm>
          <a:prstGeom prst="ellipse">
            <a:avLst/>
          </a:prstGeom>
          <a:solidFill>
            <a:schemeClr val="accent1"/>
          </a:solidFill>
          <a:ln/>
        </p:spPr>
      </p:sp>
      <p:pic>
        <p:nvPicPr>
          <p:cNvPr id="20" name="Rol 2 icono" descr="preencoded.png">    </p:cNvPr>
          <p:cNvPicPr>
            <a:picLocks noChangeAspect="1"/>
          </p:cNvPicPr>
          <p:nvPr/>
        </p:nvPicPr>
        <p:blipFill>
          <a:blip r:embed="rId3"/>
          <a:stretch>
            <a:fillRect/>
          </a:stretch>
        </p:blipFill>
        <p:spPr>
          <a:xfrm>
            <a:off x="4451299" y="5411419"/>
            <a:ext cx="332842" cy="332842"/>
          </a:xfrm>
          <a:prstGeom prst="rect">
            <a:avLst/>
          </a:prstGeom>
        </p:spPr>
      </p:pic>
      <p:sp>
        <p:nvSpPr>
          <p:cNvPr id="21" name="Rol título 2"/>
          <p:cNvSpPr txBox="1"/>
          <p:nvPr/>
        </p:nvSpPr>
        <p:spPr>
          <a:xfrm>
            <a:off x="5074920" y="5230368"/>
            <a:ext cx="2834640" cy="274320"/>
          </a:xfrm>
          <a:prstGeom prst="rect">
            <a:avLst/>
          </a:prstGeom>
          <a:noFill/>
          <a:ln/>
        </p:spPr>
        <p:txBody>
          <a:bodyPr wrap="square" lIns="0" tIns="0" rIns="0" bIns="0" rtlCol="0" anchor="t"/>
          <a:lstStyle/>
          <a:p>
            <a:pPr indent="0" marL="0">
              <a:buNone/>
            </a:pPr>
            <a:r>
              <a:rPr lang="en-US" sz="1400" b="1" dirty="0">
                <a:solidFill>
                  <a:schemeClr val="accent1"/>
                </a:solidFill>
              </a:rPr>
              <a:t>Paga y decide</a:t>
            </a:r>
            <a:endParaRPr lang="en-US" sz="1400" dirty="0"/>
          </a:p>
        </p:txBody>
      </p:sp>
      <p:sp>
        <p:nvSpPr>
          <p:cNvPr id="22" name="Rol texto 2"/>
          <p:cNvSpPr txBox="1"/>
          <p:nvPr/>
        </p:nvSpPr>
        <p:spPr>
          <a:xfrm>
            <a:off x="5074920" y="5504688"/>
            <a:ext cx="2834640" cy="548640"/>
          </a:xfrm>
          <a:prstGeom prst="rect">
            <a:avLst/>
          </a:prstGeom>
          <a:noFill/>
          <a:ln/>
        </p:spPr>
        <p:txBody>
          <a:bodyPr wrap="square" lIns="0" tIns="0" rIns="0" bIns="0" rtlCol="0" anchor="t"/>
          <a:lstStyle/>
          <a:p>
            <a:pPr indent="0" marL="0">
              <a:buNone/>
            </a:pPr>
            <a:r>
              <a:rPr lang="en-US" sz="1300" dirty="0">
                <a:solidFill>
                  <a:schemeClr val="tx1"/>
                </a:solidFill>
              </a:rPr>
              <a:t>El banco emisor (tarjetas y riesgo de fraude)</a:t>
            </a:r>
            <a:endParaRPr lang="en-US" sz="1300" dirty="0"/>
          </a:p>
        </p:txBody>
      </p:sp>
      <p:sp>
        <p:nvSpPr>
          <p:cNvPr id="23" name="Rol 3 círculo"/>
          <p:cNvSpPr/>
          <p:nvPr/>
        </p:nvSpPr>
        <p:spPr>
          <a:xfrm>
            <a:off x="8046720" y="5257800"/>
            <a:ext cx="640080" cy="640080"/>
          </a:xfrm>
          <a:prstGeom prst="ellipse">
            <a:avLst/>
          </a:prstGeom>
          <a:solidFill>
            <a:schemeClr val="accent1"/>
          </a:solidFill>
          <a:ln/>
        </p:spPr>
      </p:sp>
      <p:pic>
        <p:nvPicPr>
          <p:cNvPr id="24" name="Rol 3 icono" descr="preencoded.png">    </p:cNvPr>
          <p:cNvPicPr>
            <a:picLocks noChangeAspect="1"/>
          </p:cNvPicPr>
          <p:nvPr/>
        </p:nvPicPr>
        <p:blipFill>
          <a:blip r:embed="rId4"/>
          <a:stretch>
            <a:fillRect/>
          </a:stretch>
        </p:blipFill>
        <p:spPr>
          <a:xfrm>
            <a:off x="8200339" y="5411419"/>
            <a:ext cx="332842" cy="332842"/>
          </a:xfrm>
          <a:prstGeom prst="rect">
            <a:avLst/>
          </a:prstGeom>
        </p:spPr>
      </p:pic>
      <p:sp>
        <p:nvSpPr>
          <p:cNvPr id="25" name="Rol título 3"/>
          <p:cNvSpPr txBox="1"/>
          <p:nvPr/>
        </p:nvSpPr>
        <p:spPr>
          <a:xfrm>
            <a:off x="8823960" y="5230368"/>
            <a:ext cx="2834640" cy="274320"/>
          </a:xfrm>
          <a:prstGeom prst="rect">
            <a:avLst/>
          </a:prstGeom>
          <a:noFill/>
          <a:ln/>
        </p:spPr>
        <p:txBody>
          <a:bodyPr wrap="square" lIns="0" tIns="0" rIns="0" bIns="0" rtlCol="0" anchor="t"/>
          <a:lstStyle/>
          <a:p>
            <a:pPr indent="0" marL="0">
              <a:buNone/>
            </a:pPr>
            <a:r>
              <a:rPr lang="en-US" sz="1400" b="1" dirty="0">
                <a:solidFill>
                  <a:schemeClr val="accent1"/>
                </a:solidFill>
              </a:rPr>
              <a:t>Segmento inicial</a:t>
            </a:r>
            <a:endParaRPr lang="en-US" sz="1400" dirty="0"/>
          </a:p>
        </p:txBody>
      </p:sp>
      <p:sp>
        <p:nvSpPr>
          <p:cNvPr id="26" name="Rol texto 3"/>
          <p:cNvSpPr txBox="1"/>
          <p:nvPr/>
        </p:nvSpPr>
        <p:spPr>
          <a:xfrm>
            <a:off x="8823960" y="5504688"/>
            <a:ext cx="2834640" cy="548640"/>
          </a:xfrm>
          <a:prstGeom prst="rect">
            <a:avLst/>
          </a:prstGeom>
          <a:noFill/>
          <a:ln/>
        </p:spPr>
        <p:txBody>
          <a:bodyPr wrap="square" lIns="0" tIns="0" rIns="0" bIns="0" rtlCol="0" anchor="t"/>
          <a:lstStyle/>
          <a:p>
            <a:pPr indent="0" marL="0">
              <a:buNone/>
            </a:pPr>
            <a:r>
              <a:rPr lang="en-US" sz="1300" dirty="0">
                <a:solidFill>
                  <a:schemeClr val="tx1"/>
                </a:solidFill>
              </a:rPr>
              <a:t>60–74 años con tarjeta débito donde recibe su ingreso</a:t>
            </a:r>
            <a:endParaRPr lang="en-US" sz="13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64240" cy="292608"/>
          </a:xfrm>
          <a:prstGeom prst="rect">
            <a:avLst/>
          </a:prstGeom>
          <a:noFill/>
          <a:ln/>
        </p:spPr>
        <p:txBody>
          <a:bodyPr wrap="square" lIns="0" tIns="0" rIns="0" bIns="0" rtlCol="0" anchor="t"/>
          <a:lstStyle/>
          <a:p>
            <a:pPr indent="0" marL="0">
              <a:buNone/>
            </a:pPr>
            <a:r>
              <a:rPr lang="en-US" sz="1200" b="1" spc="200" kern="0" dirty="0">
                <a:solidFill>
                  <a:schemeClr val="accent2"/>
                </a:solidFill>
              </a:rPr>
              <a:t>2 · ESTRATEGIA</a:t>
            </a:r>
            <a:endParaRPr lang="en-US" sz="1200" dirty="0"/>
          </a:p>
        </p:txBody>
      </p:sp>
      <p:sp>
        <p:nvSpPr>
          <p:cNvPr id="3" name="Text 0"/>
          <p:cNvSpPr/>
          <p:nvPr>
            <p:ph idx="101" type="title" hasCustomPrompt="1"/>
          </p:nvPr>
        </p:nvSpPr>
        <p:spPr>
          <a:xfrm>
            <a:off x="548640" y="640080"/>
            <a:ext cx="11064240" cy="685800"/>
          </a:xfrm>
          <a:prstGeom prst="rect">
            <a:avLst/>
          </a:prstGeom>
          <a:noFill/>
          <a:ln/>
        </p:spPr>
        <p:txBody>
          <a:bodyPr wrap="square" lIns="0" tIns="0" rIns="0" bIns="0" rtlCol="0" anchor="t"/>
          <a:lstStyle/>
          <a:p>
            <a:pPr algn="l" indent="0" marL="0">
              <a:buNone/>
            </a:pPr>
            <a:r>
              <a:rPr lang="en-US" sz="3000" b="1" dirty="0">
                <a:solidFill>
                  <a:schemeClr val="tx2"/>
                </a:solidFill>
                <a:latin typeface="Cambria" pitchFamily="34" charset="0"/>
                <a:ea typeface="Cambria" pitchFamily="34" charset="-122"/>
                <a:cs typeface="Cambria" pitchFamily="34" charset="-120"/>
              </a:rPr>
              <a:t>Ser la capa de confianza, no un banco para mayores</a:t>
            </a:r>
            <a:endParaRPr lang="en-US" sz="3000" dirty="0"/>
          </a:p>
        </p:txBody>
      </p:sp>
      <p:sp>
        <p:nvSpPr>
          <p:cNvPr id="4" name="Título gráfico alternativas"/>
          <p:cNvSpPr txBox="1"/>
          <p:nvPr/>
        </p:nvSpPr>
        <p:spPr>
          <a:xfrm>
            <a:off x="548640" y="1554480"/>
            <a:ext cx="5760720" cy="320040"/>
          </a:xfrm>
          <a:prstGeom prst="rect">
            <a:avLst/>
          </a:prstGeom>
          <a:noFill/>
          <a:ln/>
        </p:spPr>
        <p:txBody>
          <a:bodyPr wrap="square" lIns="0" tIns="0" rIns="0" bIns="0" rtlCol="0" anchor="t"/>
          <a:lstStyle/>
          <a:p>
            <a:pPr indent="0" marL="0">
              <a:buNone/>
            </a:pPr>
            <a:r>
              <a:rPr lang="en-US" sz="1500" b="1" dirty="0">
                <a:solidFill>
                  <a:schemeClr val="tx2"/>
                </a:solidFill>
              </a:rPr>
              <a:t>Alternativas evaluadas · puntaje ponderado (1 a 5)</a:t>
            </a:r>
            <a:endParaRPr lang="en-US" sz="1500" dirty="0"/>
          </a:p>
        </p:txBody>
      </p:sp>
      <p:graphicFrame>
        <p:nvGraphicFramePr>
          <p:cNvPr id="5" name="Gráfico alternativas" descr=""/>
          <p:cNvGraphicFramePr/>
          <p:nvPr/>
        </p:nvGraphicFramePr>
        <p:xfrm>
          <a:off x="457200" y="1874520"/>
          <a:ext cx="5943600" cy="3383280"/>
        </p:xfrm>
        <a:graphic xmlns:a="http://schemas.openxmlformats.org/drawingml/2006/main">
          <a:graphicData uri="http://schemas.openxmlformats.org/drawingml/2006/chart">
            <c:chart xmlns:c="http://schemas.openxmlformats.org/drawingml/2006/chart" r:id="rId1"/>
          </a:graphicData>
        </a:graphic>
      </p:graphicFrame>
      <p:sp>
        <p:nvSpPr>
          <p:cNvPr id="6" name="Nota no intervenir"/>
          <p:cNvSpPr txBox="1"/>
          <p:nvPr/>
        </p:nvSpPr>
        <p:spPr>
          <a:xfrm>
            <a:off x="548640" y="5349240"/>
            <a:ext cx="5760720" cy="502920"/>
          </a:xfrm>
          <a:prstGeom prst="rect">
            <a:avLst/>
          </a:prstGeom>
          <a:noFill/>
          <a:ln/>
        </p:spPr>
        <p:txBody>
          <a:bodyPr wrap="square" lIns="0" tIns="0" rIns="0" bIns="0" rtlCol="0" anchor="t"/>
          <a:lstStyle/>
          <a:p>
            <a:pPr indent="0" marL="0">
              <a:buNone/>
            </a:pPr>
            <a:r>
              <a:rPr lang="en-US" sz="1200" i="1" dirty="0">
                <a:solidFill>
                  <a:schemeClr val="tx1"/>
                </a:solidFill>
              </a:rPr>
              <a:t>No intervenir: descartado. El problema está validado y el riesgo se acota con un piloto.</a:t>
            </a:r>
            <a:endParaRPr lang="en-US" sz="1200" dirty="0"/>
          </a:p>
        </p:txBody>
      </p:sp>
      <p:sp>
        <p:nvSpPr>
          <p:cNvPr id="7" name="Título propuesta de valor"/>
          <p:cNvSpPr txBox="1"/>
          <p:nvPr/>
        </p:nvSpPr>
        <p:spPr>
          <a:xfrm>
            <a:off x="6858000" y="1554480"/>
            <a:ext cx="4754880" cy="320040"/>
          </a:xfrm>
          <a:prstGeom prst="rect">
            <a:avLst/>
          </a:prstGeom>
          <a:noFill/>
          <a:ln/>
        </p:spPr>
        <p:txBody>
          <a:bodyPr wrap="square" lIns="0" tIns="0" rIns="0" bIns="0" rtlCol="0" anchor="t"/>
          <a:lstStyle/>
          <a:p>
            <a:pPr indent="0" marL="0">
              <a:buNone/>
            </a:pPr>
            <a:r>
              <a:rPr lang="en-US" sz="1500" b="1" dirty="0">
                <a:solidFill>
                  <a:schemeClr val="tx2"/>
                </a:solidFill>
              </a:rPr>
              <a:t>Propuesta de valor</a:t>
            </a:r>
            <a:endParaRPr lang="en-US" sz="1500" dirty="0"/>
          </a:p>
        </p:txBody>
      </p:sp>
      <p:sp>
        <p:nvSpPr>
          <p:cNvPr id="8" name="Propuesta 1 círculo"/>
          <p:cNvSpPr/>
          <p:nvPr/>
        </p:nvSpPr>
        <p:spPr>
          <a:xfrm>
            <a:off x="6858000" y="2011680"/>
            <a:ext cx="640080" cy="640080"/>
          </a:xfrm>
          <a:prstGeom prst="ellipse">
            <a:avLst/>
          </a:prstGeom>
          <a:solidFill>
            <a:schemeClr val="accent2"/>
          </a:solidFill>
          <a:ln/>
        </p:spPr>
      </p:sp>
      <p:pic>
        <p:nvPicPr>
          <p:cNvPr id="9" name="Propuesta 1 icono" descr="preencoded.png">    </p:cNvPr>
          <p:cNvPicPr>
            <a:picLocks noChangeAspect="1"/>
          </p:cNvPicPr>
          <p:nvPr/>
        </p:nvPicPr>
        <p:blipFill>
          <a:blip r:embed="rId2"/>
          <a:stretch>
            <a:fillRect/>
          </a:stretch>
        </p:blipFill>
        <p:spPr>
          <a:xfrm>
            <a:off x="7011619" y="2165299"/>
            <a:ext cx="332842" cy="332842"/>
          </a:xfrm>
          <a:prstGeom prst="rect">
            <a:avLst/>
          </a:prstGeom>
        </p:spPr>
      </p:pic>
      <p:sp>
        <p:nvSpPr>
          <p:cNvPr id="10" name="Propuesta título 1"/>
          <p:cNvSpPr txBox="1"/>
          <p:nvPr/>
        </p:nvSpPr>
        <p:spPr>
          <a:xfrm>
            <a:off x="7680960" y="1993392"/>
            <a:ext cx="3931920" cy="274320"/>
          </a:xfrm>
          <a:prstGeom prst="rect">
            <a:avLst/>
          </a:prstGeom>
          <a:noFill/>
          <a:ln/>
        </p:spPr>
        <p:txBody>
          <a:bodyPr wrap="square" lIns="0" tIns="0" rIns="0" bIns="0" rtlCol="0" anchor="t"/>
          <a:lstStyle/>
          <a:p>
            <a:pPr indent="0" marL="0">
              <a:buNone/>
            </a:pPr>
            <a:r>
              <a:rPr lang="en-US" sz="1400" b="1" dirty="0">
                <a:solidFill>
                  <a:schemeClr val="accent1"/>
                </a:solidFill>
              </a:rPr>
              <a:t>Persona de 60+</a:t>
            </a:r>
            <a:endParaRPr lang="en-US" sz="1400" dirty="0"/>
          </a:p>
        </p:txBody>
      </p:sp>
      <p:sp>
        <p:nvSpPr>
          <p:cNvPr id="11" name="Propuesta texto 1"/>
          <p:cNvSpPr txBox="1"/>
          <p:nvPr/>
        </p:nvSpPr>
        <p:spPr>
          <a:xfrm>
            <a:off x="7680960" y="2267712"/>
            <a:ext cx="3931920" cy="502920"/>
          </a:xfrm>
          <a:prstGeom prst="rect">
            <a:avLst/>
          </a:prstGeom>
          <a:noFill/>
          <a:ln/>
        </p:spPr>
        <p:txBody>
          <a:bodyPr wrap="square" lIns="0" tIns="0" rIns="0" bIns="0" rtlCol="0" anchor="t"/>
          <a:lstStyle/>
          <a:p>
            <a:pPr indent="0" marL="0">
              <a:buNone/>
            </a:pPr>
            <a:r>
              <a:rPr lang="en-US" sz="1300" dirty="0">
                <a:solidFill>
                  <a:schemeClr val="tx1"/>
                </a:solidFill>
              </a:rPr>
              <a:t>Paga digital con autonomía y con alguien de confianza cerca</a:t>
            </a:r>
            <a:endParaRPr lang="en-US" sz="1300" dirty="0"/>
          </a:p>
        </p:txBody>
      </p:sp>
      <p:sp>
        <p:nvSpPr>
          <p:cNvPr id="12" name="Propuesta 2 círculo"/>
          <p:cNvSpPr/>
          <p:nvPr/>
        </p:nvSpPr>
        <p:spPr>
          <a:xfrm>
            <a:off x="6858000" y="2971800"/>
            <a:ext cx="640080" cy="640080"/>
          </a:xfrm>
          <a:prstGeom prst="ellipse">
            <a:avLst/>
          </a:prstGeom>
          <a:solidFill>
            <a:schemeClr val="accent2"/>
          </a:solidFill>
          <a:ln/>
        </p:spPr>
      </p:sp>
      <p:pic>
        <p:nvPicPr>
          <p:cNvPr id="13" name="Propuesta 2 icono" descr="preencoded.png">    </p:cNvPr>
          <p:cNvPicPr>
            <a:picLocks noChangeAspect="1"/>
          </p:cNvPicPr>
          <p:nvPr/>
        </p:nvPicPr>
        <p:blipFill>
          <a:blip r:embed="rId3"/>
          <a:stretch>
            <a:fillRect/>
          </a:stretch>
        </p:blipFill>
        <p:spPr>
          <a:xfrm>
            <a:off x="7011619" y="3125419"/>
            <a:ext cx="332842" cy="332842"/>
          </a:xfrm>
          <a:prstGeom prst="rect">
            <a:avLst/>
          </a:prstGeom>
        </p:spPr>
      </p:pic>
      <p:sp>
        <p:nvSpPr>
          <p:cNvPr id="14" name="Propuesta título 2"/>
          <p:cNvSpPr txBox="1"/>
          <p:nvPr/>
        </p:nvSpPr>
        <p:spPr>
          <a:xfrm>
            <a:off x="7680960" y="2953512"/>
            <a:ext cx="3931920" cy="274320"/>
          </a:xfrm>
          <a:prstGeom prst="rect">
            <a:avLst/>
          </a:prstGeom>
          <a:noFill/>
          <a:ln/>
        </p:spPr>
        <p:txBody>
          <a:bodyPr wrap="square" lIns="0" tIns="0" rIns="0" bIns="0" rtlCol="0" anchor="t"/>
          <a:lstStyle/>
          <a:p>
            <a:pPr indent="0" marL="0">
              <a:buNone/>
            </a:pPr>
            <a:r>
              <a:rPr lang="en-US" sz="1400" b="1" dirty="0">
                <a:solidFill>
                  <a:schemeClr val="accent1"/>
                </a:solidFill>
              </a:rPr>
              <a:t>Familiar o cuidador</a:t>
            </a:r>
            <a:endParaRPr lang="en-US" sz="1400" dirty="0"/>
          </a:p>
        </p:txBody>
      </p:sp>
      <p:sp>
        <p:nvSpPr>
          <p:cNvPr id="15" name="Propuesta texto 2"/>
          <p:cNvSpPr txBox="1"/>
          <p:nvPr/>
        </p:nvSpPr>
        <p:spPr>
          <a:xfrm>
            <a:off x="7680960" y="3227832"/>
            <a:ext cx="3931920" cy="502920"/>
          </a:xfrm>
          <a:prstGeom prst="rect">
            <a:avLst/>
          </a:prstGeom>
          <a:noFill/>
          <a:ln/>
        </p:spPr>
        <p:txBody>
          <a:bodyPr wrap="square" lIns="0" tIns="0" rIns="0" bIns="0" rtlCol="0" anchor="t"/>
          <a:lstStyle/>
          <a:p>
            <a:pPr indent="0" marL="0">
              <a:buNone/>
            </a:pPr>
            <a:r>
              <a:rPr lang="en-US" sz="1300" dirty="0">
                <a:solidFill>
                  <a:schemeClr val="tx1"/>
                </a:solidFill>
              </a:rPr>
              <a:t>Tranquilidad sin quitarle el control</a:t>
            </a:r>
            <a:endParaRPr lang="en-US" sz="1300" dirty="0"/>
          </a:p>
        </p:txBody>
      </p:sp>
      <p:sp>
        <p:nvSpPr>
          <p:cNvPr id="16" name="Propuesta 3 círculo"/>
          <p:cNvSpPr/>
          <p:nvPr/>
        </p:nvSpPr>
        <p:spPr>
          <a:xfrm>
            <a:off x="6858000" y="3931920"/>
            <a:ext cx="640080" cy="640080"/>
          </a:xfrm>
          <a:prstGeom prst="ellipse">
            <a:avLst/>
          </a:prstGeom>
          <a:solidFill>
            <a:schemeClr val="accent2"/>
          </a:solidFill>
          <a:ln/>
        </p:spPr>
      </p:sp>
      <p:pic>
        <p:nvPicPr>
          <p:cNvPr id="17" name="Propuesta 3 icono" descr="preencoded.png">    </p:cNvPr>
          <p:cNvPicPr>
            <a:picLocks noChangeAspect="1"/>
          </p:cNvPicPr>
          <p:nvPr/>
        </p:nvPicPr>
        <p:blipFill>
          <a:blip r:embed="rId4"/>
          <a:stretch>
            <a:fillRect/>
          </a:stretch>
        </p:blipFill>
        <p:spPr>
          <a:xfrm>
            <a:off x="7011619" y="4085539"/>
            <a:ext cx="332842" cy="332842"/>
          </a:xfrm>
          <a:prstGeom prst="rect">
            <a:avLst/>
          </a:prstGeom>
        </p:spPr>
      </p:pic>
      <p:sp>
        <p:nvSpPr>
          <p:cNvPr id="18" name="Propuesta título 3"/>
          <p:cNvSpPr txBox="1"/>
          <p:nvPr/>
        </p:nvSpPr>
        <p:spPr>
          <a:xfrm>
            <a:off x="7680960" y="3913632"/>
            <a:ext cx="3931920" cy="274320"/>
          </a:xfrm>
          <a:prstGeom prst="rect">
            <a:avLst/>
          </a:prstGeom>
          <a:noFill/>
          <a:ln/>
        </p:spPr>
        <p:txBody>
          <a:bodyPr wrap="square" lIns="0" tIns="0" rIns="0" bIns="0" rtlCol="0" anchor="t"/>
          <a:lstStyle/>
          <a:p>
            <a:pPr indent="0" marL="0">
              <a:buNone/>
            </a:pPr>
            <a:r>
              <a:rPr lang="en-US" sz="1400" b="1" dirty="0">
                <a:solidFill>
                  <a:schemeClr val="accent1"/>
                </a:solidFill>
              </a:rPr>
              <a:t>Banco emisor</a:t>
            </a:r>
            <a:endParaRPr lang="en-US" sz="1400" dirty="0"/>
          </a:p>
        </p:txBody>
      </p:sp>
      <p:sp>
        <p:nvSpPr>
          <p:cNvPr id="19" name="Propuesta texto 3"/>
          <p:cNvSpPr txBox="1"/>
          <p:nvPr/>
        </p:nvSpPr>
        <p:spPr>
          <a:xfrm>
            <a:off x="7680960" y="4187952"/>
            <a:ext cx="3931920" cy="502920"/>
          </a:xfrm>
          <a:prstGeom prst="rect">
            <a:avLst/>
          </a:prstGeom>
          <a:noFill/>
          <a:ln/>
        </p:spPr>
        <p:txBody>
          <a:bodyPr wrap="square" lIns="0" tIns="0" rIns="0" bIns="0" rtlCol="0" anchor="t"/>
          <a:lstStyle/>
          <a:p>
            <a:pPr indent="0" marL="0">
              <a:buNone/>
            </a:pPr>
            <a:r>
              <a:rPr lang="en-US" sz="1300" dirty="0">
                <a:solidFill>
                  <a:schemeClr val="tx1"/>
                </a:solidFill>
              </a:rPr>
              <a:t>Menos fraude y más uso de sus clientes 60+, sin construirlo</a:t>
            </a:r>
            <a:endParaRPr lang="en-US" sz="1300" dirty="0"/>
          </a:p>
        </p:txBody>
      </p:sp>
      <p:sp>
        <p:nvSpPr>
          <p:cNvPr id="20" name="Tarjeta no haríamos"/>
          <p:cNvSpPr/>
          <p:nvPr/>
        </p:nvSpPr>
        <p:spPr>
          <a:xfrm>
            <a:off x="6858000" y="4937760"/>
            <a:ext cx="4754880" cy="1188720"/>
          </a:xfrm>
          <a:prstGeom prst="roundRect">
            <a:avLst>
              <a:gd name="adj" fmla="val 9231"/>
            </a:avLst>
          </a:prstGeom>
          <a:solidFill>
            <a:schemeClr val="bg2"/>
          </a:solidFill>
          <a:ln/>
        </p:spPr>
      </p:sp>
      <p:sp>
        <p:nvSpPr>
          <p:cNvPr id="21" name="No haríamos círculo"/>
          <p:cNvSpPr/>
          <p:nvPr/>
        </p:nvSpPr>
        <p:spPr>
          <a:xfrm>
            <a:off x="7040880" y="5138928"/>
            <a:ext cx="548640" cy="548640"/>
          </a:xfrm>
          <a:prstGeom prst="ellipse">
            <a:avLst/>
          </a:prstGeom>
          <a:solidFill>
            <a:schemeClr val="accent6"/>
          </a:solidFill>
          <a:ln/>
        </p:spPr>
      </p:sp>
      <p:pic>
        <p:nvPicPr>
          <p:cNvPr id="22" name="No haríamos icono" descr="preencoded.png">    </p:cNvPr>
          <p:cNvPicPr>
            <a:picLocks noChangeAspect="1"/>
          </p:cNvPicPr>
          <p:nvPr/>
        </p:nvPicPr>
        <p:blipFill>
          <a:blip r:embed="rId5"/>
          <a:stretch>
            <a:fillRect/>
          </a:stretch>
        </p:blipFill>
        <p:spPr>
          <a:xfrm>
            <a:off x="7172554" y="5270602"/>
            <a:ext cx="285293" cy="285293"/>
          </a:xfrm>
          <a:prstGeom prst="rect">
            <a:avLst/>
          </a:prstGeom>
        </p:spPr>
      </p:pic>
      <p:sp>
        <p:nvSpPr>
          <p:cNvPr id="23" name="No haríamos título"/>
          <p:cNvSpPr txBox="1"/>
          <p:nvPr/>
        </p:nvSpPr>
        <p:spPr>
          <a:xfrm>
            <a:off x="7772400" y="5074920"/>
            <a:ext cx="3657600" cy="274320"/>
          </a:xfrm>
          <a:prstGeom prst="rect">
            <a:avLst/>
          </a:prstGeom>
          <a:noFill/>
          <a:ln/>
        </p:spPr>
        <p:txBody>
          <a:bodyPr wrap="square" lIns="0" tIns="0" rIns="0" bIns="0" rtlCol="0" anchor="t"/>
          <a:lstStyle/>
          <a:p>
            <a:pPr indent="0" marL="0">
              <a:buNone/>
            </a:pPr>
            <a:r>
              <a:rPr lang="en-US" sz="1400" b="1" dirty="0">
                <a:solidFill>
                  <a:schemeClr val="accent6"/>
                </a:solidFill>
              </a:rPr>
              <a:t>Lo que no haríamos</a:t>
            </a:r>
            <a:endParaRPr lang="en-US" sz="1400" dirty="0"/>
          </a:p>
        </p:txBody>
      </p:sp>
      <p:sp>
        <p:nvSpPr>
          <p:cNvPr id="24" name="No haríamos texto"/>
          <p:cNvSpPr txBox="1"/>
          <p:nvPr/>
        </p:nvSpPr>
        <p:spPr>
          <a:xfrm>
            <a:off x="7772400" y="5367528"/>
            <a:ext cx="3657600" cy="640080"/>
          </a:xfrm>
          <a:prstGeom prst="rect">
            <a:avLst/>
          </a:prstGeom>
          <a:noFill/>
          <a:ln/>
        </p:spPr>
        <p:txBody>
          <a:bodyPr wrap="square" lIns="0" tIns="0" rIns="0" bIns="0" rtlCol="0" anchor="t"/>
          <a:lstStyle/>
          <a:p>
            <a:pPr indent="0" marL="0">
              <a:buNone/>
            </a:pPr>
            <a:r>
              <a:rPr lang="en-US" sz="1300" dirty="0">
                <a:solidFill>
                  <a:schemeClr val="tx1"/>
                </a:solidFill>
              </a:rPr>
              <a:t>Ser banco o aseguradora · vender B2C · dar al familiar acceso al dinero o a la clave</a:t>
            </a:r>
            <a:endParaRPr lang="en-US" sz="13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64240" cy="292608"/>
          </a:xfrm>
          <a:prstGeom prst="rect">
            <a:avLst/>
          </a:prstGeom>
          <a:noFill/>
          <a:ln/>
        </p:spPr>
        <p:txBody>
          <a:bodyPr wrap="square" lIns="0" tIns="0" rIns="0" bIns="0" rtlCol="0" anchor="t"/>
          <a:lstStyle/>
          <a:p>
            <a:pPr indent="0" marL="0">
              <a:buNone/>
            </a:pPr>
            <a:r>
              <a:rPr lang="en-US" sz="1200" b="1" spc="200" kern="0" dirty="0">
                <a:solidFill>
                  <a:schemeClr val="accent2"/>
                </a:solidFill>
              </a:rPr>
              <a:t>3 · SOLUCIÓN</a:t>
            </a:r>
            <a:endParaRPr lang="en-US" sz="1200" dirty="0"/>
          </a:p>
        </p:txBody>
      </p:sp>
      <p:sp>
        <p:nvSpPr>
          <p:cNvPr id="3" name="Text 0"/>
          <p:cNvSpPr/>
          <p:nvPr>
            <p:ph idx="101" type="title" hasCustomPrompt="1"/>
          </p:nvPr>
        </p:nvSpPr>
        <p:spPr>
          <a:xfrm>
            <a:off x="548640" y="640080"/>
            <a:ext cx="11064240" cy="685800"/>
          </a:xfrm>
          <a:prstGeom prst="rect">
            <a:avLst/>
          </a:prstGeom>
          <a:noFill/>
          <a:ln/>
        </p:spPr>
        <p:txBody>
          <a:bodyPr wrap="square" lIns="0" tIns="0" rIns="0" bIns="0" rtlCol="0" anchor="t"/>
          <a:lstStyle/>
          <a:p>
            <a:pPr algn="l" indent="0" marL="0">
              <a:buNone/>
            </a:pPr>
            <a:r>
              <a:rPr lang="en-US" sz="3000" b="1" dirty="0">
                <a:solidFill>
                  <a:schemeClr val="tx2"/>
                </a:solidFill>
                <a:latin typeface="Cambria" pitchFamily="34" charset="0"/>
                <a:ea typeface="Cambria" pitchFamily="34" charset="-122"/>
                <a:cs typeface="Cambria" pitchFamily="34" charset="-120"/>
              </a:rPr>
              <a:t>Red de Confianza: dos módulos sobre la infraestructura actual</a:t>
            </a:r>
            <a:endParaRPr lang="en-US" sz="3000" dirty="0"/>
          </a:p>
        </p:txBody>
      </p:sp>
      <p:sp>
        <p:nvSpPr>
          <p:cNvPr id="4" name="Módulo 1"/>
          <p:cNvSpPr/>
          <p:nvPr/>
        </p:nvSpPr>
        <p:spPr>
          <a:xfrm>
            <a:off x="548640" y="1508760"/>
            <a:ext cx="5394960" cy="2423160"/>
          </a:xfrm>
          <a:prstGeom prst="roundRect">
            <a:avLst>
              <a:gd name="adj" fmla="val 4528"/>
            </a:avLst>
          </a:prstGeom>
          <a:solidFill>
            <a:schemeClr val="bg2"/>
          </a:solidFill>
          <a:ln/>
        </p:spPr>
      </p:sp>
      <p:sp>
        <p:nvSpPr>
          <p:cNvPr id="5" name="Módulo 1 círculo"/>
          <p:cNvSpPr/>
          <p:nvPr/>
        </p:nvSpPr>
        <p:spPr>
          <a:xfrm>
            <a:off x="822960" y="1737360"/>
            <a:ext cx="685800" cy="685800"/>
          </a:xfrm>
          <a:prstGeom prst="ellipse">
            <a:avLst/>
          </a:prstGeom>
          <a:solidFill>
            <a:schemeClr val="accent1"/>
          </a:solidFill>
          <a:ln/>
        </p:spPr>
      </p:sp>
      <p:pic>
        <p:nvPicPr>
          <p:cNvPr id="6" name="Módulo 1 icono" descr="preencoded.png">    </p:cNvPr>
          <p:cNvPicPr>
            <a:picLocks noChangeAspect="1"/>
          </p:cNvPicPr>
          <p:nvPr/>
        </p:nvPicPr>
        <p:blipFill>
          <a:blip r:embed="rId1"/>
          <a:stretch>
            <a:fillRect/>
          </a:stretch>
        </p:blipFill>
        <p:spPr>
          <a:xfrm>
            <a:off x="987552" y="1901952"/>
            <a:ext cx="356616" cy="356616"/>
          </a:xfrm>
          <a:prstGeom prst="rect">
            <a:avLst/>
          </a:prstGeom>
        </p:spPr>
      </p:pic>
      <p:sp>
        <p:nvSpPr>
          <p:cNvPr id="7" name="Módulo título 1"/>
          <p:cNvSpPr txBox="1"/>
          <p:nvPr/>
        </p:nvSpPr>
        <p:spPr>
          <a:xfrm>
            <a:off x="1691640" y="1719072"/>
            <a:ext cx="4023360" cy="365760"/>
          </a:xfrm>
          <a:prstGeom prst="rect">
            <a:avLst/>
          </a:prstGeom>
          <a:noFill/>
          <a:ln/>
        </p:spPr>
        <p:txBody>
          <a:bodyPr wrap="square" lIns="0" tIns="0" rIns="0" bIns="0" rtlCol="0" anchor="t"/>
          <a:lstStyle/>
          <a:p>
            <a:pPr indent="0" marL="0">
              <a:buNone/>
            </a:pPr>
            <a:r>
              <a:rPr lang="en-US" sz="2000" b="1" dirty="0">
                <a:solidFill>
                  <a:schemeClr val="accent1"/>
                </a:solidFill>
                <a:latin typeface="Cambria" pitchFamily="34" charset="0"/>
                <a:ea typeface="Cambria" pitchFamily="34" charset="-122"/>
                <a:cs typeface="Cambria" pitchFamily="34" charset="-120"/>
              </a:rPr>
              <a:t>Escudo Senior</a:t>
            </a:r>
            <a:endParaRPr lang="en-US" sz="2000" dirty="0"/>
          </a:p>
        </p:txBody>
      </p:sp>
      <p:sp>
        <p:nvSpPr>
          <p:cNvPr id="8" name="Módulo alcance 1"/>
          <p:cNvSpPr txBox="1"/>
          <p:nvPr/>
        </p:nvSpPr>
        <p:spPr>
          <a:xfrm>
            <a:off x="1691640" y="2103120"/>
            <a:ext cx="4023360" cy="320040"/>
          </a:xfrm>
          <a:prstGeom prst="rect">
            <a:avLst/>
          </a:prstGeom>
          <a:noFill/>
          <a:ln/>
        </p:spPr>
        <p:txBody>
          <a:bodyPr wrap="square" lIns="0" tIns="0" rIns="0" bIns="0" rtlCol="0" anchor="t"/>
          <a:lstStyle/>
          <a:p>
            <a:pPr indent="0" marL="0">
              <a:buNone/>
            </a:pPr>
            <a:r>
              <a:rPr lang="en-US" sz="1200" i="1" dirty="0">
                <a:solidFill>
                  <a:schemeClr val="tx1"/>
                </a:solidFill>
              </a:rPr>
              <a:t>Para todas las tarjetas que el banco marque como 60+</a:t>
            </a:r>
            <a:endParaRPr lang="en-US" sz="1200" dirty="0"/>
          </a:p>
        </p:txBody>
      </p:sp>
      <p:sp>
        <p:nvSpPr>
          <p:cNvPr id="9" name="Módulo viñetas 1"/>
          <p:cNvSpPr txBox="1"/>
          <p:nvPr/>
        </p:nvSpPr>
        <p:spPr>
          <a:xfrm>
            <a:off x="822960" y="2606040"/>
            <a:ext cx="4937760" cy="1234440"/>
          </a:xfrm>
          <a:prstGeom prst="rect">
            <a:avLst/>
          </a:prstGeom>
          <a:noFill/>
          <a:ln/>
        </p:spPr>
        <p:txBody>
          <a:bodyPr wrap="square" lIns="0" tIns="0" rIns="0" bIns="0" rtlCol="0" anchor="t"/>
          <a:lstStyle/>
          <a:p>
            <a:pPr marL="190500" indent="-190500">
              <a:spcAft>
                <a:spcPts val="800"/>
              </a:spcAft>
              <a:buSzPct val="100000"/>
              <a:buChar char="•"/>
            </a:pPr>
            <a:r>
              <a:rPr lang="en-US" sz="1600" dirty="0">
                <a:solidFill>
                  <a:schemeClr val="tx1"/>
                </a:solidFill>
              </a:rPr>
              <a:t>Reglas antifraude ajustadas a sus patrones</a:t>
            </a:r>
            <a:endParaRPr lang="en-US" sz="1600" dirty="0"/>
          </a:p>
          <a:p>
            <a:pPr marL="190500" indent="-190500">
              <a:spcAft>
                <a:spcPts val="800"/>
              </a:spcAft>
              <a:buSzPct val="100000"/>
              <a:buChar char="•"/>
            </a:pPr>
            <a:r>
              <a:rPr lang="en-US" sz="1600" dirty="0">
                <a:solidFill>
                  <a:schemeClr val="tx1"/>
                </a:solidFill>
              </a:rPr>
              <a:t>Verifica por WhatsApp o llamada antes de rechazar</a:t>
            </a:r>
            <a:endParaRPr lang="en-US" sz="1600" dirty="0"/>
          </a:p>
          <a:p>
            <a:pPr marL="190500" indent="-190500">
              <a:spcAft>
                <a:spcPts val="800"/>
              </a:spcAft>
              <a:buSzPct val="100000"/>
              <a:buChar char="•"/>
            </a:pPr>
            <a:r>
              <a:rPr lang="en-US" sz="1600" dirty="0">
                <a:solidFill>
                  <a:schemeClr val="tx1"/>
                </a:solidFill>
              </a:rPr>
              <a:t>Bloqueo inmediato con un botón</a:t>
            </a:r>
            <a:endParaRPr lang="en-US" sz="1600" dirty="0"/>
          </a:p>
        </p:txBody>
      </p:sp>
      <p:sp>
        <p:nvSpPr>
          <p:cNvPr id="10" name="Módulo 2"/>
          <p:cNvSpPr/>
          <p:nvPr/>
        </p:nvSpPr>
        <p:spPr>
          <a:xfrm>
            <a:off x="6217920" y="1508760"/>
            <a:ext cx="5394960" cy="2423160"/>
          </a:xfrm>
          <a:prstGeom prst="roundRect">
            <a:avLst>
              <a:gd name="adj" fmla="val 4528"/>
            </a:avLst>
          </a:prstGeom>
          <a:solidFill>
            <a:schemeClr val="bg2"/>
          </a:solidFill>
          <a:ln/>
        </p:spPr>
      </p:sp>
      <p:sp>
        <p:nvSpPr>
          <p:cNvPr id="11" name="Módulo 2 círculo"/>
          <p:cNvSpPr/>
          <p:nvPr/>
        </p:nvSpPr>
        <p:spPr>
          <a:xfrm>
            <a:off x="6492240" y="1737360"/>
            <a:ext cx="685800" cy="685800"/>
          </a:xfrm>
          <a:prstGeom prst="ellipse">
            <a:avLst/>
          </a:prstGeom>
          <a:solidFill>
            <a:schemeClr val="accent1"/>
          </a:solidFill>
          <a:ln/>
        </p:spPr>
      </p:sp>
      <p:pic>
        <p:nvPicPr>
          <p:cNvPr id="12" name="Módulo 2 icono" descr="preencoded.png">    </p:cNvPr>
          <p:cNvPicPr>
            <a:picLocks noChangeAspect="1"/>
          </p:cNvPicPr>
          <p:nvPr/>
        </p:nvPicPr>
        <p:blipFill>
          <a:blip r:embed="rId2"/>
          <a:stretch>
            <a:fillRect/>
          </a:stretch>
        </p:blipFill>
        <p:spPr>
          <a:xfrm>
            <a:off x="6656832" y="1901952"/>
            <a:ext cx="356616" cy="356616"/>
          </a:xfrm>
          <a:prstGeom prst="rect">
            <a:avLst/>
          </a:prstGeom>
        </p:spPr>
      </p:pic>
      <p:sp>
        <p:nvSpPr>
          <p:cNvPr id="13" name="Módulo título 2"/>
          <p:cNvSpPr txBox="1"/>
          <p:nvPr/>
        </p:nvSpPr>
        <p:spPr>
          <a:xfrm>
            <a:off x="7360920" y="1719072"/>
            <a:ext cx="4023360" cy="365760"/>
          </a:xfrm>
          <a:prstGeom prst="rect">
            <a:avLst/>
          </a:prstGeom>
          <a:noFill/>
          <a:ln/>
        </p:spPr>
        <p:txBody>
          <a:bodyPr wrap="square" lIns="0" tIns="0" rIns="0" bIns="0" rtlCol="0" anchor="t"/>
          <a:lstStyle/>
          <a:p>
            <a:pPr indent="0" marL="0">
              <a:buNone/>
            </a:pPr>
            <a:r>
              <a:rPr lang="en-US" sz="2000" b="1" dirty="0">
                <a:solidFill>
                  <a:schemeClr val="accent1"/>
                </a:solidFill>
                <a:latin typeface="Cambria" pitchFamily="34" charset="0"/>
                <a:ea typeface="Cambria" pitchFamily="34" charset="-122"/>
                <a:cs typeface="Cambria" pitchFamily="34" charset="-120"/>
              </a:rPr>
              <a:t>Círculo de Confianza</a:t>
            </a:r>
            <a:endParaRPr lang="en-US" sz="2000" dirty="0"/>
          </a:p>
        </p:txBody>
      </p:sp>
      <p:sp>
        <p:nvSpPr>
          <p:cNvPr id="14" name="Módulo alcance 2"/>
          <p:cNvSpPr txBox="1"/>
          <p:nvPr/>
        </p:nvSpPr>
        <p:spPr>
          <a:xfrm>
            <a:off x="7360920" y="2103120"/>
            <a:ext cx="4023360" cy="320040"/>
          </a:xfrm>
          <a:prstGeom prst="rect">
            <a:avLst/>
          </a:prstGeom>
          <a:noFill/>
          <a:ln/>
        </p:spPr>
        <p:txBody>
          <a:bodyPr wrap="square" lIns="0" tIns="0" rIns="0" bIns="0" rtlCol="0" anchor="t"/>
          <a:lstStyle/>
          <a:p>
            <a:pPr indent="0" marL="0">
              <a:buNone/>
            </a:pPr>
            <a:r>
              <a:rPr lang="en-US" sz="1200" i="1" dirty="0">
                <a:solidFill>
                  <a:schemeClr val="tx1"/>
                </a:solidFill>
              </a:rPr>
              <a:t>Opcional: la persona elige a 1 o 2 personas de confianza</a:t>
            </a:r>
            <a:endParaRPr lang="en-US" sz="1200" dirty="0"/>
          </a:p>
        </p:txBody>
      </p:sp>
      <p:sp>
        <p:nvSpPr>
          <p:cNvPr id="15" name="Módulo viñetas 2"/>
          <p:cNvSpPr txBox="1"/>
          <p:nvPr/>
        </p:nvSpPr>
        <p:spPr>
          <a:xfrm>
            <a:off x="6492240" y="2606040"/>
            <a:ext cx="4937760" cy="1234440"/>
          </a:xfrm>
          <a:prstGeom prst="rect">
            <a:avLst/>
          </a:prstGeom>
          <a:noFill/>
          <a:ln/>
        </p:spPr>
        <p:txBody>
          <a:bodyPr wrap="square" lIns="0" tIns="0" rIns="0" bIns="0" rtlCol="0" anchor="t"/>
          <a:lstStyle/>
          <a:p>
            <a:pPr marL="190500" indent="-190500">
              <a:spcAft>
                <a:spcPts val="800"/>
              </a:spcAft>
              <a:buSzPct val="100000"/>
              <a:buChar char="•"/>
            </a:pPr>
            <a:r>
              <a:rPr lang="en-US" sz="1600" dirty="0">
                <a:solidFill>
                  <a:schemeClr val="tx1"/>
                </a:solidFill>
              </a:rPr>
              <a:t>Alertas en tiempo real y límites acordados</a:t>
            </a:r>
            <a:endParaRPr lang="en-US" sz="1600" dirty="0"/>
          </a:p>
          <a:p>
            <a:pPr marL="190500" indent="-190500">
              <a:spcAft>
                <a:spcPts val="800"/>
              </a:spcAft>
              <a:buSzPct val="100000"/>
              <a:buChar char="•"/>
            </a:pPr>
            <a:r>
              <a:rPr lang="en-US" sz="1600" dirty="0">
                <a:solidFill>
                  <a:schemeClr val="tx1"/>
                </a:solidFill>
              </a:rPr>
              <a:t>Co-aprobación de compras en línea (3-D Secure)</a:t>
            </a:r>
            <a:endParaRPr lang="en-US" sz="1600" dirty="0"/>
          </a:p>
          <a:p>
            <a:pPr marL="190500" indent="-190500">
              <a:spcAft>
                <a:spcPts val="800"/>
              </a:spcAft>
              <a:buSzPct val="100000"/>
              <a:buChar char="•"/>
            </a:pPr>
            <a:r>
              <a:rPr lang="en-US" sz="1600" dirty="0">
                <a:solidFill>
                  <a:schemeClr val="tx1"/>
                </a:solidFill>
              </a:rPr>
              <a:t>El familiar no ve la clave ni mueve dinero</a:t>
            </a:r>
            <a:endParaRPr lang="en-US" sz="1600" dirty="0"/>
          </a:p>
        </p:txBody>
      </p:sp>
      <p:sp>
        <p:nvSpPr>
          <p:cNvPr id="16" name="Título journey"/>
          <p:cNvSpPr txBox="1"/>
          <p:nvPr/>
        </p:nvSpPr>
        <p:spPr>
          <a:xfrm>
            <a:off x="548640" y="4160520"/>
            <a:ext cx="5486400" cy="320040"/>
          </a:xfrm>
          <a:prstGeom prst="rect">
            <a:avLst/>
          </a:prstGeom>
          <a:noFill/>
          <a:ln/>
        </p:spPr>
        <p:txBody>
          <a:bodyPr wrap="square" lIns="0" tIns="0" rIns="0" bIns="0" rtlCol="0" anchor="t"/>
          <a:lstStyle/>
          <a:p>
            <a:pPr indent="0" marL="0">
              <a:buNone/>
            </a:pPr>
            <a:r>
              <a:rPr lang="en-US" sz="1500" b="1" dirty="0">
                <a:solidFill>
                  <a:schemeClr val="tx2"/>
                </a:solidFill>
              </a:rPr>
              <a:t>Customer journey</a:t>
            </a:r>
            <a:endParaRPr lang="en-US" sz="1500" dirty="0"/>
          </a:p>
        </p:txBody>
      </p:sp>
      <p:sp>
        <p:nvSpPr>
          <p:cNvPr id="17" name="Línea journey"/>
          <p:cNvSpPr/>
          <p:nvPr/>
        </p:nvSpPr>
        <p:spPr>
          <a:xfrm>
            <a:off x="1655064" y="4873752"/>
            <a:ext cx="8851392" cy="0"/>
          </a:xfrm>
          <a:prstGeom prst="line">
            <a:avLst/>
          </a:prstGeom>
          <a:noFill/>
          <a:ln w="25400">
            <a:solidFill>
              <a:schemeClr val="accent5"/>
            </a:solidFill>
            <a:prstDash val="solid"/>
          </a:ln>
        </p:spPr>
      </p:sp>
      <p:sp>
        <p:nvSpPr>
          <p:cNvPr id="18" name="Paso 1"/>
          <p:cNvSpPr/>
          <p:nvPr/>
        </p:nvSpPr>
        <p:spPr>
          <a:xfrm>
            <a:off x="1380744" y="4599432"/>
            <a:ext cx="548640" cy="548640"/>
          </a:xfrm>
          <a:prstGeom prst="ellipse">
            <a:avLst/>
          </a:prstGeom>
          <a:solidFill>
            <a:schemeClr val="accent1"/>
          </a:solidFill>
          <a:ln w="25400">
            <a:solidFill>
              <a:schemeClr val="bg1"/>
            </a:solidFill>
            <a:prstDash val="solid"/>
          </a:ln>
        </p:spPr>
      </p:sp>
      <p:sp>
        <p:nvSpPr>
          <p:cNvPr id="19" name="Número paso 1"/>
          <p:cNvSpPr txBox="1"/>
          <p:nvPr/>
        </p:nvSpPr>
        <p:spPr>
          <a:xfrm>
            <a:off x="1380744" y="4599432"/>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20" name="Paso título 1"/>
          <p:cNvSpPr txBox="1"/>
          <p:nvPr/>
        </p:nvSpPr>
        <p:spPr>
          <a:xfrm>
            <a:off x="640080" y="5257800"/>
            <a:ext cx="2029968" cy="274320"/>
          </a:xfrm>
          <a:prstGeom prst="rect">
            <a:avLst/>
          </a:prstGeom>
          <a:noFill/>
          <a:ln/>
        </p:spPr>
        <p:txBody>
          <a:bodyPr wrap="square" lIns="0" tIns="0" rIns="0" bIns="0" rtlCol="0" anchor="t"/>
          <a:lstStyle/>
          <a:p>
            <a:pPr algn="ctr" indent="0" marL="0">
              <a:buNone/>
            </a:pPr>
            <a:r>
              <a:rPr lang="en-US" sz="1400" b="1" dirty="0">
                <a:solidFill>
                  <a:schemeClr val="accent1"/>
                </a:solidFill>
              </a:rPr>
              <a:t>Descubre</a:t>
            </a:r>
            <a:endParaRPr lang="en-US" sz="1400" dirty="0"/>
          </a:p>
        </p:txBody>
      </p:sp>
      <p:sp>
        <p:nvSpPr>
          <p:cNvPr id="21" name="Paso texto 1"/>
          <p:cNvSpPr txBox="1"/>
          <p:nvPr/>
        </p:nvSpPr>
        <p:spPr>
          <a:xfrm>
            <a:off x="640080" y="5532120"/>
            <a:ext cx="2029968" cy="502920"/>
          </a:xfrm>
          <a:prstGeom prst="rect">
            <a:avLst/>
          </a:prstGeom>
          <a:noFill/>
          <a:ln/>
        </p:spPr>
        <p:txBody>
          <a:bodyPr wrap="square" lIns="0" tIns="0" rIns="0" bIns="0" rtlCol="0" anchor="t"/>
          <a:lstStyle/>
          <a:p>
            <a:pPr algn="ctr" indent="0" marL="0">
              <a:buNone/>
            </a:pPr>
            <a:r>
              <a:rPr lang="en-US" sz="1200" dirty="0">
                <a:solidFill>
                  <a:schemeClr val="tx1"/>
                </a:solidFill>
              </a:rPr>
              <a:t>el día de la mesada, en oficina o llamada</a:t>
            </a:r>
            <a:endParaRPr lang="en-US" sz="1200" dirty="0"/>
          </a:p>
        </p:txBody>
      </p:sp>
      <p:sp>
        <p:nvSpPr>
          <p:cNvPr id="22" name="Paso 2"/>
          <p:cNvSpPr/>
          <p:nvPr/>
        </p:nvSpPr>
        <p:spPr>
          <a:xfrm>
            <a:off x="3593592" y="4599432"/>
            <a:ext cx="548640" cy="548640"/>
          </a:xfrm>
          <a:prstGeom prst="ellipse">
            <a:avLst/>
          </a:prstGeom>
          <a:solidFill>
            <a:schemeClr val="accent1"/>
          </a:solidFill>
          <a:ln w="25400">
            <a:solidFill>
              <a:schemeClr val="bg1"/>
            </a:solidFill>
            <a:prstDash val="solid"/>
          </a:ln>
        </p:spPr>
      </p:sp>
      <p:sp>
        <p:nvSpPr>
          <p:cNvPr id="23" name="Número paso 2"/>
          <p:cNvSpPr txBox="1"/>
          <p:nvPr/>
        </p:nvSpPr>
        <p:spPr>
          <a:xfrm>
            <a:off x="3593592" y="4599432"/>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24" name="Paso título 2"/>
          <p:cNvSpPr txBox="1"/>
          <p:nvPr/>
        </p:nvSpPr>
        <p:spPr>
          <a:xfrm>
            <a:off x="2852928" y="5257800"/>
            <a:ext cx="2029968" cy="274320"/>
          </a:xfrm>
          <a:prstGeom prst="rect">
            <a:avLst/>
          </a:prstGeom>
          <a:noFill/>
          <a:ln/>
        </p:spPr>
        <p:txBody>
          <a:bodyPr wrap="square" lIns="0" tIns="0" rIns="0" bIns="0" rtlCol="0" anchor="t"/>
          <a:lstStyle/>
          <a:p>
            <a:pPr algn="ctr" indent="0" marL="0">
              <a:buNone/>
            </a:pPr>
            <a:r>
              <a:rPr lang="en-US" sz="1400" b="1" dirty="0">
                <a:solidFill>
                  <a:schemeClr val="accent1"/>
                </a:solidFill>
              </a:rPr>
              <a:t>Se inscribe</a:t>
            </a:r>
            <a:endParaRPr lang="en-US" sz="1400" dirty="0"/>
          </a:p>
        </p:txBody>
      </p:sp>
      <p:sp>
        <p:nvSpPr>
          <p:cNvPr id="25" name="Paso texto 2"/>
          <p:cNvSpPr txBox="1"/>
          <p:nvPr/>
        </p:nvSpPr>
        <p:spPr>
          <a:xfrm>
            <a:off x="2852928" y="5532120"/>
            <a:ext cx="2029968" cy="502920"/>
          </a:xfrm>
          <a:prstGeom prst="rect">
            <a:avLst/>
          </a:prstGeom>
          <a:noFill/>
          <a:ln/>
        </p:spPr>
        <p:txBody>
          <a:bodyPr wrap="square" lIns="0" tIns="0" rIns="0" bIns="0" rtlCol="0" anchor="t"/>
          <a:lstStyle/>
          <a:p>
            <a:pPr algn="ctr" indent="0" marL="0">
              <a:buNone/>
            </a:pPr>
            <a:r>
              <a:rPr lang="en-US" sz="1200" dirty="0">
                <a:solidFill>
                  <a:schemeClr val="tx1"/>
                </a:solidFill>
              </a:rPr>
              <a:t>asistido, en 5 minutos, con consentimiento</a:t>
            </a:r>
            <a:endParaRPr lang="en-US" sz="1200" dirty="0"/>
          </a:p>
        </p:txBody>
      </p:sp>
      <p:sp>
        <p:nvSpPr>
          <p:cNvPr id="26" name="Paso 3"/>
          <p:cNvSpPr/>
          <p:nvPr/>
        </p:nvSpPr>
        <p:spPr>
          <a:xfrm>
            <a:off x="5806440" y="4599432"/>
            <a:ext cx="548640" cy="548640"/>
          </a:xfrm>
          <a:prstGeom prst="ellipse">
            <a:avLst/>
          </a:prstGeom>
          <a:solidFill>
            <a:schemeClr val="accent1"/>
          </a:solidFill>
          <a:ln w="25400">
            <a:solidFill>
              <a:schemeClr val="bg1"/>
            </a:solidFill>
            <a:prstDash val="solid"/>
          </a:ln>
        </p:spPr>
      </p:sp>
      <p:sp>
        <p:nvSpPr>
          <p:cNvPr id="27" name="Número paso 3"/>
          <p:cNvSpPr txBox="1"/>
          <p:nvPr/>
        </p:nvSpPr>
        <p:spPr>
          <a:xfrm>
            <a:off x="5806440" y="4599432"/>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28" name="Paso título 3"/>
          <p:cNvSpPr txBox="1"/>
          <p:nvPr/>
        </p:nvSpPr>
        <p:spPr>
          <a:xfrm>
            <a:off x="5065776" y="5257800"/>
            <a:ext cx="2029968" cy="274320"/>
          </a:xfrm>
          <a:prstGeom prst="rect">
            <a:avLst/>
          </a:prstGeom>
          <a:noFill/>
          <a:ln/>
        </p:spPr>
        <p:txBody>
          <a:bodyPr wrap="square" lIns="0" tIns="0" rIns="0" bIns="0" rtlCol="0" anchor="t"/>
          <a:lstStyle/>
          <a:p>
            <a:pPr algn="ctr" indent="0" marL="0">
              <a:buNone/>
            </a:pPr>
            <a:r>
              <a:rPr lang="en-US" sz="1400" b="1" dirty="0">
                <a:solidFill>
                  <a:schemeClr val="accent1"/>
                </a:solidFill>
              </a:rPr>
              <a:t>Paga</a:t>
            </a:r>
            <a:endParaRPr lang="en-US" sz="1400" dirty="0"/>
          </a:p>
        </p:txBody>
      </p:sp>
      <p:sp>
        <p:nvSpPr>
          <p:cNvPr id="29" name="Paso texto 3"/>
          <p:cNvSpPr txBox="1"/>
          <p:nvPr/>
        </p:nvSpPr>
        <p:spPr>
          <a:xfrm>
            <a:off x="5065776" y="5532120"/>
            <a:ext cx="2029968" cy="502920"/>
          </a:xfrm>
          <a:prstGeom prst="rect">
            <a:avLst/>
          </a:prstGeom>
          <a:noFill/>
          <a:ln/>
        </p:spPr>
        <p:txBody>
          <a:bodyPr wrap="square" lIns="0" tIns="0" rIns="0" bIns="0" rtlCol="0" anchor="t"/>
          <a:lstStyle/>
          <a:p>
            <a:pPr algn="ctr" indent="0" marL="0">
              <a:buNone/>
            </a:pPr>
            <a:r>
              <a:rPr lang="en-US" sz="1200" dirty="0">
                <a:solidFill>
                  <a:schemeClr val="tx1"/>
                </a:solidFill>
              </a:rPr>
              <a:t>datáfono, Tap to Phone o en línea</a:t>
            </a:r>
            <a:endParaRPr lang="en-US" sz="1200" dirty="0"/>
          </a:p>
        </p:txBody>
      </p:sp>
      <p:sp>
        <p:nvSpPr>
          <p:cNvPr id="30" name="Paso 4"/>
          <p:cNvSpPr/>
          <p:nvPr/>
        </p:nvSpPr>
        <p:spPr>
          <a:xfrm>
            <a:off x="8019288" y="4599432"/>
            <a:ext cx="548640" cy="548640"/>
          </a:xfrm>
          <a:prstGeom prst="ellipse">
            <a:avLst/>
          </a:prstGeom>
          <a:solidFill>
            <a:schemeClr val="accent3"/>
          </a:solidFill>
          <a:ln w="25400">
            <a:solidFill>
              <a:schemeClr val="bg1"/>
            </a:solidFill>
            <a:prstDash val="solid"/>
          </a:ln>
        </p:spPr>
      </p:sp>
      <p:sp>
        <p:nvSpPr>
          <p:cNvPr id="31" name="Número paso 4"/>
          <p:cNvSpPr txBox="1"/>
          <p:nvPr/>
        </p:nvSpPr>
        <p:spPr>
          <a:xfrm>
            <a:off x="8019288" y="4599432"/>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32" name="Paso título 4"/>
          <p:cNvSpPr txBox="1"/>
          <p:nvPr/>
        </p:nvSpPr>
        <p:spPr>
          <a:xfrm>
            <a:off x="7278624" y="5257800"/>
            <a:ext cx="2029968" cy="274320"/>
          </a:xfrm>
          <a:prstGeom prst="rect">
            <a:avLst/>
          </a:prstGeom>
          <a:noFill/>
          <a:ln/>
        </p:spPr>
        <p:txBody>
          <a:bodyPr wrap="square" lIns="0" tIns="0" rIns="0" bIns="0" rtlCol="0" anchor="t"/>
          <a:lstStyle/>
          <a:p>
            <a:pPr algn="ctr" indent="0" marL="0">
              <a:buNone/>
            </a:pPr>
            <a:r>
              <a:rPr lang="en-US" sz="1400" b="1" dirty="0">
                <a:solidFill>
                  <a:schemeClr val="accent1"/>
                </a:solidFill>
              </a:rPr>
              <a:t>Queda protegido</a:t>
            </a:r>
            <a:endParaRPr lang="en-US" sz="1400" dirty="0"/>
          </a:p>
        </p:txBody>
      </p:sp>
      <p:sp>
        <p:nvSpPr>
          <p:cNvPr id="33" name="Paso texto 4"/>
          <p:cNvSpPr txBox="1"/>
          <p:nvPr/>
        </p:nvSpPr>
        <p:spPr>
          <a:xfrm>
            <a:off x="7278624" y="5532120"/>
            <a:ext cx="2029968" cy="502920"/>
          </a:xfrm>
          <a:prstGeom prst="rect">
            <a:avLst/>
          </a:prstGeom>
          <a:noFill/>
          <a:ln/>
        </p:spPr>
        <p:txBody>
          <a:bodyPr wrap="square" lIns="0" tIns="0" rIns="0" bIns="0" rtlCol="0" anchor="t"/>
          <a:lstStyle/>
          <a:p>
            <a:pPr algn="ctr" indent="0" marL="0">
              <a:buNone/>
            </a:pPr>
            <a:r>
              <a:rPr lang="en-US" sz="1200" dirty="0">
                <a:solidFill>
                  <a:schemeClr val="tx1"/>
                </a:solidFill>
              </a:rPr>
              <a:t>alerta, verificación y aviso al familiar</a:t>
            </a:r>
            <a:endParaRPr lang="en-US" sz="1200" dirty="0"/>
          </a:p>
        </p:txBody>
      </p:sp>
      <p:sp>
        <p:nvSpPr>
          <p:cNvPr id="34" name="Paso 5"/>
          <p:cNvSpPr/>
          <p:nvPr/>
        </p:nvSpPr>
        <p:spPr>
          <a:xfrm>
            <a:off x="10232136" y="4599432"/>
            <a:ext cx="548640" cy="548640"/>
          </a:xfrm>
          <a:prstGeom prst="ellipse">
            <a:avLst/>
          </a:prstGeom>
          <a:solidFill>
            <a:schemeClr val="accent1"/>
          </a:solidFill>
          <a:ln w="25400">
            <a:solidFill>
              <a:schemeClr val="bg1"/>
            </a:solidFill>
            <a:prstDash val="solid"/>
          </a:ln>
        </p:spPr>
      </p:sp>
      <p:sp>
        <p:nvSpPr>
          <p:cNvPr id="35" name="Número paso 5"/>
          <p:cNvSpPr txBox="1"/>
          <p:nvPr/>
        </p:nvSpPr>
        <p:spPr>
          <a:xfrm>
            <a:off x="10232136" y="4599432"/>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36" name="Paso título 5"/>
          <p:cNvSpPr txBox="1"/>
          <p:nvPr/>
        </p:nvSpPr>
        <p:spPr>
          <a:xfrm>
            <a:off x="9491472" y="5257800"/>
            <a:ext cx="2029968" cy="274320"/>
          </a:xfrm>
          <a:prstGeom prst="rect">
            <a:avLst/>
          </a:prstGeom>
          <a:noFill/>
          <a:ln/>
        </p:spPr>
        <p:txBody>
          <a:bodyPr wrap="square" lIns="0" tIns="0" rIns="0" bIns="0" rtlCol="0" anchor="t"/>
          <a:lstStyle/>
          <a:p>
            <a:pPr algn="ctr" indent="0" marL="0">
              <a:buNone/>
            </a:pPr>
            <a:r>
              <a:rPr lang="en-US" sz="1400" b="1" dirty="0">
                <a:solidFill>
                  <a:schemeClr val="accent1"/>
                </a:solidFill>
              </a:rPr>
              <a:t>Resuelve</a:t>
            </a:r>
            <a:endParaRPr lang="en-US" sz="1400" dirty="0"/>
          </a:p>
        </p:txBody>
      </p:sp>
      <p:sp>
        <p:nvSpPr>
          <p:cNvPr id="37" name="Paso texto 5"/>
          <p:cNvSpPr txBox="1"/>
          <p:nvPr/>
        </p:nvSpPr>
        <p:spPr>
          <a:xfrm>
            <a:off x="9491472" y="5532120"/>
            <a:ext cx="2029968" cy="502920"/>
          </a:xfrm>
          <a:prstGeom prst="rect">
            <a:avLst/>
          </a:prstGeom>
          <a:noFill/>
          <a:ln/>
        </p:spPr>
        <p:txBody>
          <a:bodyPr wrap="square" lIns="0" tIns="0" rIns="0" bIns="0" rtlCol="0" anchor="t"/>
          <a:lstStyle/>
          <a:p>
            <a:pPr algn="ctr" indent="0" marL="0">
              <a:buNone/>
            </a:pPr>
            <a:r>
              <a:rPr lang="en-US" sz="1200" dirty="0">
                <a:solidFill>
                  <a:schemeClr val="tx1"/>
                </a:solidFill>
              </a:rPr>
              <a:t>línea humana o bloqueo con un clic</a:t>
            </a:r>
            <a:endParaRPr lang="en-US" sz="1200" dirty="0"/>
          </a:p>
        </p:txBody>
      </p:sp>
      <p:sp>
        <p:nvSpPr>
          <p:cNvPr id="38" name="Nota seguridad"/>
          <p:cNvSpPr txBox="1"/>
          <p:nvPr/>
        </p:nvSpPr>
        <p:spPr>
          <a:xfrm>
            <a:off x="548640" y="6108192"/>
            <a:ext cx="11064240" cy="256032"/>
          </a:xfrm>
          <a:prstGeom prst="rect">
            <a:avLst/>
          </a:prstGeom>
          <a:noFill/>
          <a:ln/>
        </p:spPr>
        <p:txBody>
          <a:bodyPr wrap="square" lIns="0" tIns="0" rIns="0" bIns="0" rtlCol="0" anchor="t"/>
          <a:lstStyle/>
          <a:p>
            <a:pPr indent="0" marL="0">
              <a:buNone/>
            </a:pPr>
            <a:r>
              <a:rPr lang="en-US" sz="1100" dirty="0">
                <a:solidFill>
                  <a:schemeClr val="accent4"/>
                </a:solidFill>
              </a:rPr>
              <a:t>PCI DSS · tokenización · Ley 1581 de 2012 · accesibilidad WCAG 2.2 AA · IA solo en fase 2, si las reglas no alcanzan la meta</a:t>
            </a:r>
            <a:endParaRPr lang="en-US" sz="11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64240" cy="292608"/>
          </a:xfrm>
          <a:prstGeom prst="rect">
            <a:avLst/>
          </a:prstGeom>
          <a:noFill/>
          <a:ln/>
        </p:spPr>
        <p:txBody>
          <a:bodyPr wrap="square" lIns="0" tIns="0" rIns="0" bIns="0" rtlCol="0" anchor="t"/>
          <a:lstStyle/>
          <a:p>
            <a:pPr indent="0" marL="0">
              <a:buNone/>
            </a:pPr>
            <a:r>
              <a:rPr lang="en-US" sz="1200" b="1" spc="200" kern="0" dirty="0">
                <a:solidFill>
                  <a:schemeClr val="accent2"/>
                </a:solidFill>
              </a:rPr>
              <a:t>4 · VALIDACIÓN Y ROADMAP</a:t>
            </a:r>
            <a:endParaRPr lang="en-US" sz="1200" dirty="0"/>
          </a:p>
        </p:txBody>
      </p:sp>
      <p:sp>
        <p:nvSpPr>
          <p:cNvPr id="3" name="Text 0"/>
          <p:cNvSpPr/>
          <p:nvPr>
            <p:ph idx="101" type="title" hasCustomPrompt="1"/>
          </p:nvPr>
        </p:nvSpPr>
        <p:spPr>
          <a:xfrm>
            <a:off x="548640" y="640080"/>
            <a:ext cx="11064240" cy="685800"/>
          </a:xfrm>
          <a:prstGeom prst="rect">
            <a:avLst/>
          </a:prstGeom>
          <a:noFill/>
          <a:ln/>
        </p:spPr>
        <p:txBody>
          <a:bodyPr wrap="square" lIns="0" tIns="0" rIns="0" bIns="0" rtlCol="0" anchor="t"/>
          <a:lstStyle/>
          <a:p>
            <a:pPr algn="l" indent="0" marL="0">
              <a:buNone/>
            </a:pPr>
            <a:r>
              <a:rPr lang="en-US" sz="3000" b="1" dirty="0">
                <a:solidFill>
                  <a:schemeClr val="tx2"/>
                </a:solidFill>
                <a:latin typeface="Cambria" pitchFamily="34" charset="0"/>
                <a:ea typeface="Cambria" pitchFamily="34" charset="-122"/>
                <a:cs typeface="Cambria" pitchFamily="34" charset="-120"/>
              </a:rPr>
              <a:t>Aprender antes de escalar: 12 meses y 3 decisiones</a:t>
            </a:r>
            <a:endParaRPr lang="en-US" sz="3000" dirty="0"/>
          </a:p>
        </p:txBody>
      </p:sp>
      <p:sp>
        <p:nvSpPr>
          <p:cNvPr id="4" name="Mes 1"/>
          <p:cNvSpPr txBox="1"/>
          <p:nvPr/>
        </p:nvSpPr>
        <p:spPr>
          <a:xfrm>
            <a:off x="548640" y="1554480"/>
            <a:ext cx="922020" cy="228600"/>
          </a:xfrm>
          <a:prstGeom prst="rect">
            <a:avLst/>
          </a:prstGeom>
          <a:noFill/>
          <a:ln/>
        </p:spPr>
        <p:txBody>
          <a:bodyPr wrap="square" lIns="0" tIns="0" rIns="0" bIns="0" rtlCol="0" anchor="t"/>
          <a:lstStyle/>
          <a:p>
            <a:pPr algn="ctr" indent="0" marL="0">
              <a:buNone/>
            </a:pPr>
            <a:r>
              <a:rPr lang="en-US" sz="1000" dirty="0">
                <a:solidFill>
                  <a:schemeClr val="accent4"/>
                </a:solidFill>
              </a:rPr>
              <a:t>M1</a:t>
            </a:r>
            <a:endParaRPr lang="en-US" sz="1000" dirty="0"/>
          </a:p>
        </p:txBody>
      </p:sp>
      <p:sp>
        <p:nvSpPr>
          <p:cNvPr id="5" name="Mes 2"/>
          <p:cNvSpPr txBox="1"/>
          <p:nvPr/>
        </p:nvSpPr>
        <p:spPr>
          <a:xfrm>
            <a:off x="1470660" y="1554480"/>
            <a:ext cx="922020" cy="228600"/>
          </a:xfrm>
          <a:prstGeom prst="rect">
            <a:avLst/>
          </a:prstGeom>
          <a:noFill/>
          <a:ln/>
        </p:spPr>
        <p:txBody>
          <a:bodyPr wrap="square" lIns="0" tIns="0" rIns="0" bIns="0" rtlCol="0" anchor="t"/>
          <a:lstStyle/>
          <a:p>
            <a:pPr algn="ctr" indent="0" marL="0">
              <a:buNone/>
            </a:pPr>
            <a:r>
              <a:rPr lang="en-US" sz="1000" dirty="0">
                <a:solidFill>
                  <a:schemeClr val="accent4"/>
                </a:solidFill>
              </a:rPr>
              <a:t>M2</a:t>
            </a:r>
            <a:endParaRPr lang="en-US" sz="1000" dirty="0"/>
          </a:p>
        </p:txBody>
      </p:sp>
      <p:sp>
        <p:nvSpPr>
          <p:cNvPr id="6" name="Mes 3"/>
          <p:cNvSpPr txBox="1"/>
          <p:nvPr/>
        </p:nvSpPr>
        <p:spPr>
          <a:xfrm>
            <a:off x="2392680" y="1554480"/>
            <a:ext cx="922020" cy="228600"/>
          </a:xfrm>
          <a:prstGeom prst="rect">
            <a:avLst/>
          </a:prstGeom>
          <a:noFill/>
          <a:ln/>
        </p:spPr>
        <p:txBody>
          <a:bodyPr wrap="square" lIns="0" tIns="0" rIns="0" bIns="0" rtlCol="0" anchor="t"/>
          <a:lstStyle/>
          <a:p>
            <a:pPr algn="ctr" indent="0" marL="0">
              <a:buNone/>
            </a:pPr>
            <a:r>
              <a:rPr lang="en-US" sz="1000" dirty="0">
                <a:solidFill>
                  <a:schemeClr val="accent4"/>
                </a:solidFill>
              </a:rPr>
              <a:t>M3</a:t>
            </a:r>
            <a:endParaRPr lang="en-US" sz="1000" dirty="0"/>
          </a:p>
        </p:txBody>
      </p:sp>
      <p:sp>
        <p:nvSpPr>
          <p:cNvPr id="7" name="Mes 4"/>
          <p:cNvSpPr txBox="1"/>
          <p:nvPr/>
        </p:nvSpPr>
        <p:spPr>
          <a:xfrm>
            <a:off x="3314700" y="1554480"/>
            <a:ext cx="922020" cy="228600"/>
          </a:xfrm>
          <a:prstGeom prst="rect">
            <a:avLst/>
          </a:prstGeom>
          <a:noFill/>
          <a:ln/>
        </p:spPr>
        <p:txBody>
          <a:bodyPr wrap="square" lIns="0" tIns="0" rIns="0" bIns="0" rtlCol="0" anchor="t"/>
          <a:lstStyle/>
          <a:p>
            <a:pPr algn="ctr" indent="0" marL="0">
              <a:buNone/>
            </a:pPr>
            <a:r>
              <a:rPr lang="en-US" sz="1000" dirty="0">
                <a:solidFill>
                  <a:schemeClr val="accent4"/>
                </a:solidFill>
              </a:rPr>
              <a:t>M4</a:t>
            </a:r>
            <a:endParaRPr lang="en-US" sz="1000" dirty="0"/>
          </a:p>
        </p:txBody>
      </p:sp>
      <p:sp>
        <p:nvSpPr>
          <p:cNvPr id="8" name="Mes 5"/>
          <p:cNvSpPr txBox="1"/>
          <p:nvPr/>
        </p:nvSpPr>
        <p:spPr>
          <a:xfrm>
            <a:off x="4236720" y="1554480"/>
            <a:ext cx="922020" cy="228600"/>
          </a:xfrm>
          <a:prstGeom prst="rect">
            <a:avLst/>
          </a:prstGeom>
          <a:noFill/>
          <a:ln/>
        </p:spPr>
        <p:txBody>
          <a:bodyPr wrap="square" lIns="0" tIns="0" rIns="0" bIns="0" rtlCol="0" anchor="t"/>
          <a:lstStyle/>
          <a:p>
            <a:pPr algn="ctr" indent="0" marL="0">
              <a:buNone/>
            </a:pPr>
            <a:r>
              <a:rPr lang="en-US" sz="1000" dirty="0">
                <a:solidFill>
                  <a:schemeClr val="accent4"/>
                </a:solidFill>
              </a:rPr>
              <a:t>M5</a:t>
            </a:r>
            <a:endParaRPr lang="en-US" sz="1000" dirty="0"/>
          </a:p>
        </p:txBody>
      </p:sp>
      <p:sp>
        <p:nvSpPr>
          <p:cNvPr id="9" name="Mes 6"/>
          <p:cNvSpPr txBox="1"/>
          <p:nvPr/>
        </p:nvSpPr>
        <p:spPr>
          <a:xfrm>
            <a:off x="5158740" y="1554480"/>
            <a:ext cx="922020" cy="228600"/>
          </a:xfrm>
          <a:prstGeom prst="rect">
            <a:avLst/>
          </a:prstGeom>
          <a:noFill/>
          <a:ln/>
        </p:spPr>
        <p:txBody>
          <a:bodyPr wrap="square" lIns="0" tIns="0" rIns="0" bIns="0" rtlCol="0" anchor="t"/>
          <a:lstStyle/>
          <a:p>
            <a:pPr algn="ctr" indent="0" marL="0">
              <a:buNone/>
            </a:pPr>
            <a:r>
              <a:rPr lang="en-US" sz="1000" dirty="0">
                <a:solidFill>
                  <a:schemeClr val="accent4"/>
                </a:solidFill>
              </a:rPr>
              <a:t>M6</a:t>
            </a:r>
            <a:endParaRPr lang="en-US" sz="1000" dirty="0"/>
          </a:p>
        </p:txBody>
      </p:sp>
      <p:sp>
        <p:nvSpPr>
          <p:cNvPr id="10" name="Mes 7"/>
          <p:cNvSpPr txBox="1"/>
          <p:nvPr/>
        </p:nvSpPr>
        <p:spPr>
          <a:xfrm>
            <a:off x="6080760" y="1554480"/>
            <a:ext cx="922020" cy="228600"/>
          </a:xfrm>
          <a:prstGeom prst="rect">
            <a:avLst/>
          </a:prstGeom>
          <a:noFill/>
          <a:ln/>
        </p:spPr>
        <p:txBody>
          <a:bodyPr wrap="square" lIns="0" tIns="0" rIns="0" bIns="0" rtlCol="0" anchor="t"/>
          <a:lstStyle/>
          <a:p>
            <a:pPr algn="ctr" indent="0" marL="0">
              <a:buNone/>
            </a:pPr>
            <a:r>
              <a:rPr lang="en-US" sz="1000" dirty="0">
                <a:solidFill>
                  <a:schemeClr val="accent4"/>
                </a:solidFill>
              </a:rPr>
              <a:t>M7</a:t>
            </a:r>
            <a:endParaRPr lang="en-US" sz="1000" dirty="0"/>
          </a:p>
        </p:txBody>
      </p:sp>
      <p:sp>
        <p:nvSpPr>
          <p:cNvPr id="11" name="Mes 8"/>
          <p:cNvSpPr txBox="1"/>
          <p:nvPr/>
        </p:nvSpPr>
        <p:spPr>
          <a:xfrm>
            <a:off x="7002780" y="1554480"/>
            <a:ext cx="922020" cy="228600"/>
          </a:xfrm>
          <a:prstGeom prst="rect">
            <a:avLst/>
          </a:prstGeom>
          <a:noFill/>
          <a:ln/>
        </p:spPr>
        <p:txBody>
          <a:bodyPr wrap="square" lIns="0" tIns="0" rIns="0" bIns="0" rtlCol="0" anchor="t"/>
          <a:lstStyle/>
          <a:p>
            <a:pPr algn="ctr" indent="0" marL="0">
              <a:buNone/>
            </a:pPr>
            <a:r>
              <a:rPr lang="en-US" sz="1000" dirty="0">
                <a:solidFill>
                  <a:schemeClr val="accent4"/>
                </a:solidFill>
              </a:rPr>
              <a:t>M8</a:t>
            </a:r>
            <a:endParaRPr lang="en-US" sz="1000" dirty="0"/>
          </a:p>
        </p:txBody>
      </p:sp>
      <p:sp>
        <p:nvSpPr>
          <p:cNvPr id="12" name="Mes 9"/>
          <p:cNvSpPr txBox="1"/>
          <p:nvPr/>
        </p:nvSpPr>
        <p:spPr>
          <a:xfrm>
            <a:off x="7924800" y="1554480"/>
            <a:ext cx="922020" cy="228600"/>
          </a:xfrm>
          <a:prstGeom prst="rect">
            <a:avLst/>
          </a:prstGeom>
          <a:noFill/>
          <a:ln/>
        </p:spPr>
        <p:txBody>
          <a:bodyPr wrap="square" lIns="0" tIns="0" rIns="0" bIns="0" rtlCol="0" anchor="t"/>
          <a:lstStyle/>
          <a:p>
            <a:pPr algn="ctr" indent="0" marL="0">
              <a:buNone/>
            </a:pPr>
            <a:r>
              <a:rPr lang="en-US" sz="1000" dirty="0">
                <a:solidFill>
                  <a:schemeClr val="accent4"/>
                </a:solidFill>
              </a:rPr>
              <a:t>M9</a:t>
            </a:r>
            <a:endParaRPr lang="en-US" sz="1000" dirty="0"/>
          </a:p>
        </p:txBody>
      </p:sp>
      <p:sp>
        <p:nvSpPr>
          <p:cNvPr id="13" name="Mes 10"/>
          <p:cNvSpPr txBox="1"/>
          <p:nvPr/>
        </p:nvSpPr>
        <p:spPr>
          <a:xfrm>
            <a:off x="8846820" y="1554480"/>
            <a:ext cx="922020" cy="228600"/>
          </a:xfrm>
          <a:prstGeom prst="rect">
            <a:avLst/>
          </a:prstGeom>
          <a:noFill/>
          <a:ln/>
        </p:spPr>
        <p:txBody>
          <a:bodyPr wrap="square" lIns="0" tIns="0" rIns="0" bIns="0" rtlCol="0" anchor="t"/>
          <a:lstStyle/>
          <a:p>
            <a:pPr algn="ctr" indent="0" marL="0">
              <a:buNone/>
            </a:pPr>
            <a:r>
              <a:rPr lang="en-US" sz="1000" dirty="0">
                <a:solidFill>
                  <a:schemeClr val="accent4"/>
                </a:solidFill>
              </a:rPr>
              <a:t>M10</a:t>
            </a:r>
            <a:endParaRPr lang="en-US" sz="1000" dirty="0"/>
          </a:p>
        </p:txBody>
      </p:sp>
      <p:sp>
        <p:nvSpPr>
          <p:cNvPr id="14" name="Mes 11"/>
          <p:cNvSpPr txBox="1"/>
          <p:nvPr/>
        </p:nvSpPr>
        <p:spPr>
          <a:xfrm>
            <a:off x="9768840" y="1554480"/>
            <a:ext cx="922020" cy="228600"/>
          </a:xfrm>
          <a:prstGeom prst="rect">
            <a:avLst/>
          </a:prstGeom>
          <a:noFill/>
          <a:ln/>
        </p:spPr>
        <p:txBody>
          <a:bodyPr wrap="square" lIns="0" tIns="0" rIns="0" bIns="0" rtlCol="0" anchor="t"/>
          <a:lstStyle/>
          <a:p>
            <a:pPr algn="ctr" indent="0" marL="0">
              <a:buNone/>
            </a:pPr>
            <a:r>
              <a:rPr lang="en-US" sz="1000" dirty="0">
                <a:solidFill>
                  <a:schemeClr val="accent4"/>
                </a:solidFill>
              </a:rPr>
              <a:t>M11</a:t>
            </a:r>
            <a:endParaRPr lang="en-US" sz="1000" dirty="0"/>
          </a:p>
        </p:txBody>
      </p:sp>
      <p:sp>
        <p:nvSpPr>
          <p:cNvPr id="15" name="Mes 12"/>
          <p:cNvSpPr txBox="1"/>
          <p:nvPr/>
        </p:nvSpPr>
        <p:spPr>
          <a:xfrm>
            <a:off x="10690860" y="1554480"/>
            <a:ext cx="922020" cy="228600"/>
          </a:xfrm>
          <a:prstGeom prst="rect">
            <a:avLst/>
          </a:prstGeom>
          <a:noFill/>
          <a:ln/>
        </p:spPr>
        <p:txBody>
          <a:bodyPr wrap="square" lIns="0" tIns="0" rIns="0" bIns="0" rtlCol="0" anchor="t"/>
          <a:lstStyle/>
          <a:p>
            <a:pPr algn="ctr" indent="0" marL="0">
              <a:buNone/>
            </a:pPr>
            <a:r>
              <a:rPr lang="en-US" sz="1000" dirty="0">
                <a:solidFill>
                  <a:schemeClr val="accent4"/>
                </a:solidFill>
              </a:rPr>
              <a:t>M12</a:t>
            </a:r>
            <a:endParaRPr lang="en-US" sz="1000" dirty="0"/>
          </a:p>
        </p:txBody>
      </p:sp>
      <p:sp>
        <p:nvSpPr>
          <p:cNvPr id="16" name="Fase 1"/>
          <p:cNvSpPr/>
          <p:nvPr/>
        </p:nvSpPr>
        <p:spPr>
          <a:xfrm>
            <a:off x="585216" y="1828800"/>
            <a:ext cx="1770888" cy="548640"/>
          </a:xfrm>
          <a:prstGeom prst="roundRect">
            <a:avLst>
              <a:gd name="adj" fmla="val 16667"/>
            </a:avLst>
          </a:prstGeom>
          <a:solidFill>
            <a:schemeClr val="accent1"/>
          </a:solidFill>
          <a:ln/>
        </p:spPr>
      </p:sp>
      <p:sp>
        <p:nvSpPr>
          <p:cNvPr id="17" name="Fase texto 1"/>
          <p:cNvSpPr txBox="1"/>
          <p:nvPr/>
        </p:nvSpPr>
        <p:spPr>
          <a:xfrm>
            <a:off x="585216" y="1828800"/>
            <a:ext cx="1770888" cy="548640"/>
          </a:xfrm>
          <a:prstGeom prst="rect">
            <a:avLst/>
          </a:prstGeom>
          <a:noFill/>
          <a:ln/>
        </p:spPr>
        <p:txBody>
          <a:bodyPr wrap="square" lIns="0" tIns="0" rIns="0" bIns="0" rtlCol="0" anchor="ctr"/>
          <a:lstStyle/>
          <a:p>
            <a:pPr algn="ctr" indent="0" marL="0">
              <a:buNone/>
            </a:pPr>
            <a:r>
              <a:rPr lang="en-US" sz="1300" b="1" dirty="0">
                <a:solidFill>
                  <a:schemeClr val="bg1"/>
                </a:solidFill>
              </a:rPr>
              <a:t>Discovery</a:t>
            </a:r>
            <a:endParaRPr lang="en-US" sz="1300" dirty="0"/>
          </a:p>
        </p:txBody>
      </p:sp>
      <p:sp>
        <p:nvSpPr>
          <p:cNvPr id="18" name="Fase 2"/>
          <p:cNvSpPr/>
          <p:nvPr/>
        </p:nvSpPr>
        <p:spPr>
          <a:xfrm>
            <a:off x="2429256" y="1828800"/>
            <a:ext cx="1770888" cy="548640"/>
          </a:xfrm>
          <a:prstGeom prst="roundRect">
            <a:avLst>
              <a:gd name="adj" fmla="val 16667"/>
            </a:avLst>
          </a:prstGeom>
          <a:solidFill>
            <a:schemeClr val="accent2"/>
          </a:solidFill>
          <a:ln/>
        </p:spPr>
      </p:sp>
      <p:sp>
        <p:nvSpPr>
          <p:cNvPr id="19" name="Fase texto 2"/>
          <p:cNvSpPr txBox="1"/>
          <p:nvPr/>
        </p:nvSpPr>
        <p:spPr>
          <a:xfrm>
            <a:off x="2429256" y="1828800"/>
            <a:ext cx="1770888" cy="548640"/>
          </a:xfrm>
          <a:prstGeom prst="rect">
            <a:avLst/>
          </a:prstGeom>
          <a:noFill/>
          <a:ln/>
        </p:spPr>
        <p:txBody>
          <a:bodyPr wrap="square" lIns="0" tIns="0" rIns="0" bIns="0" rtlCol="0" anchor="ctr"/>
          <a:lstStyle/>
          <a:p>
            <a:pPr algn="ctr" indent="0" marL="0">
              <a:buNone/>
            </a:pPr>
            <a:r>
              <a:rPr lang="en-US" sz="1300" b="1" dirty="0">
                <a:solidFill>
                  <a:schemeClr val="bg1"/>
                </a:solidFill>
              </a:rPr>
              <a:t>Diseño y MVP</a:t>
            </a:r>
            <a:endParaRPr lang="en-US" sz="1300" dirty="0"/>
          </a:p>
        </p:txBody>
      </p:sp>
      <p:sp>
        <p:nvSpPr>
          <p:cNvPr id="20" name="Fase 3"/>
          <p:cNvSpPr/>
          <p:nvPr/>
        </p:nvSpPr>
        <p:spPr>
          <a:xfrm>
            <a:off x="4273296" y="1828800"/>
            <a:ext cx="2692908" cy="548640"/>
          </a:xfrm>
          <a:prstGeom prst="roundRect">
            <a:avLst>
              <a:gd name="adj" fmla="val 16667"/>
            </a:avLst>
          </a:prstGeom>
          <a:solidFill>
            <a:schemeClr val="accent3"/>
          </a:solidFill>
          <a:ln/>
        </p:spPr>
      </p:sp>
      <p:sp>
        <p:nvSpPr>
          <p:cNvPr id="21" name="Fase texto 3"/>
          <p:cNvSpPr txBox="1"/>
          <p:nvPr/>
        </p:nvSpPr>
        <p:spPr>
          <a:xfrm>
            <a:off x="4273296" y="1828800"/>
            <a:ext cx="2692908" cy="548640"/>
          </a:xfrm>
          <a:prstGeom prst="rect">
            <a:avLst/>
          </a:prstGeom>
          <a:noFill/>
          <a:ln/>
        </p:spPr>
        <p:txBody>
          <a:bodyPr wrap="square" lIns="0" tIns="0" rIns="0" bIns="0" rtlCol="0" anchor="ctr"/>
          <a:lstStyle/>
          <a:p>
            <a:pPr algn="ctr" indent="0" marL="0">
              <a:buNone/>
            </a:pPr>
            <a:r>
              <a:rPr lang="en-US" sz="1300" b="1" dirty="0">
                <a:solidFill>
                  <a:schemeClr val="bg1"/>
                </a:solidFill>
              </a:rPr>
              <a:t>Piloto con control</a:t>
            </a:r>
            <a:endParaRPr lang="en-US" sz="1300" dirty="0"/>
          </a:p>
        </p:txBody>
      </p:sp>
      <p:sp>
        <p:nvSpPr>
          <p:cNvPr id="22" name="Fase 4"/>
          <p:cNvSpPr/>
          <p:nvPr/>
        </p:nvSpPr>
        <p:spPr>
          <a:xfrm>
            <a:off x="7039356" y="1828800"/>
            <a:ext cx="1770888" cy="548640"/>
          </a:xfrm>
          <a:prstGeom prst="roundRect">
            <a:avLst>
              <a:gd name="adj" fmla="val 16667"/>
            </a:avLst>
          </a:prstGeom>
          <a:solidFill>
            <a:schemeClr val="accent5"/>
          </a:solidFill>
          <a:ln/>
        </p:spPr>
      </p:sp>
      <p:sp>
        <p:nvSpPr>
          <p:cNvPr id="23" name="Fase texto 4"/>
          <p:cNvSpPr txBox="1"/>
          <p:nvPr/>
        </p:nvSpPr>
        <p:spPr>
          <a:xfrm>
            <a:off x="7039356" y="1828800"/>
            <a:ext cx="1770888" cy="548640"/>
          </a:xfrm>
          <a:prstGeom prst="rect">
            <a:avLst/>
          </a:prstGeom>
          <a:noFill/>
          <a:ln/>
        </p:spPr>
        <p:txBody>
          <a:bodyPr wrap="square" lIns="0" tIns="0" rIns="0" bIns="0" rtlCol="0" anchor="ctr"/>
          <a:lstStyle/>
          <a:p>
            <a:pPr algn="ctr" indent="0" marL="0">
              <a:buNone/>
            </a:pPr>
            <a:r>
              <a:rPr lang="en-US" sz="1300" b="1" dirty="0">
                <a:solidFill>
                  <a:schemeClr val="tx1"/>
                </a:solidFill>
              </a:rPr>
              <a:t>Lanzamiento</a:t>
            </a:r>
            <a:endParaRPr lang="en-US" sz="1300" dirty="0"/>
          </a:p>
        </p:txBody>
      </p:sp>
      <p:sp>
        <p:nvSpPr>
          <p:cNvPr id="24" name="Fase 5"/>
          <p:cNvSpPr/>
          <p:nvPr/>
        </p:nvSpPr>
        <p:spPr>
          <a:xfrm>
            <a:off x="8883396" y="1828800"/>
            <a:ext cx="2692908" cy="548640"/>
          </a:xfrm>
          <a:prstGeom prst="roundRect">
            <a:avLst>
              <a:gd name="adj" fmla="val 16667"/>
            </a:avLst>
          </a:prstGeom>
          <a:solidFill>
            <a:schemeClr val="accent4"/>
          </a:solidFill>
          <a:ln/>
        </p:spPr>
      </p:sp>
      <p:sp>
        <p:nvSpPr>
          <p:cNvPr id="25" name="Fase texto 5"/>
          <p:cNvSpPr txBox="1"/>
          <p:nvPr/>
        </p:nvSpPr>
        <p:spPr>
          <a:xfrm>
            <a:off x="8883396" y="1828800"/>
            <a:ext cx="2692908" cy="548640"/>
          </a:xfrm>
          <a:prstGeom prst="rect">
            <a:avLst/>
          </a:prstGeom>
          <a:noFill/>
          <a:ln/>
        </p:spPr>
        <p:txBody>
          <a:bodyPr wrap="square" lIns="0" tIns="0" rIns="0" bIns="0" rtlCol="0" anchor="ctr"/>
          <a:lstStyle/>
          <a:p>
            <a:pPr algn="ctr" indent="0" marL="0">
              <a:buNone/>
            </a:pPr>
            <a:r>
              <a:rPr lang="en-US" sz="1300" b="1" dirty="0">
                <a:solidFill>
                  <a:schemeClr val="tx1"/>
                </a:solidFill>
              </a:rPr>
              <a:t>Escalamiento</a:t>
            </a:r>
            <a:endParaRPr lang="en-US" sz="1300" dirty="0"/>
          </a:p>
        </p:txBody>
      </p:sp>
      <p:sp>
        <p:nvSpPr>
          <p:cNvPr id="26" name="Gate 1"/>
          <p:cNvSpPr/>
          <p:nvPr/>
        </p:nvSpPr>
        <p:spPr>
          <a:xfrm>
            <a:off x="2237232" y="2542032"/>
            <a:ext cx="310896" cy="310896"/>
          </a:xfrm>
          <a:prstGeom prst="diamond">
            <a:avLst/>
          </a:prstGeom>
          <a:solidFill>
            <a:schemeClr val="tx2"/>
          </a:solidFill>
          <a:ln/>
        </p:spPr>
      </p:sp>
      <p:sp>
        <p:nvSpPr>
          <p:cNvPr id="27" name="Gate texto 1"/>
          <p:cNvSpPr txBox="1"/>
          <p:nvPr/>
        </p:nvSpPr>
        <p:spPr>
          <a:xfrm>
            <a:off x="1524000" y="2880360"/>
            <a:ext cx="1737360" cy="502920"/>
          </a:xfrm>
          <a:prstGeom prst="rect">
            <a:avLst/>
          </a:prstGeom>
          <a:noFill/>
          <a:ln/>
        </p:spPr>
        <p:txBody>
          <a:bodyPr wrap="square" lIns="0" tIns="0" rIns="0" bIns="0" rtlCol="0" anchor="t"/>
          <a:lstStyle/>
          <a:p>
            <a:pPr algn="ctr" indent="0" marL="0">
              <a:buNone/>
            </a:pPr>
            <a:r>
              <a:rPr lang="en-US" sz="1200" b="1" dirty="0">
                <a:solidFill>
                  <a:schemeClr val="tx2"/>
                </a:solidFill>
              </a:rPr>
              <a:t>G1</a:t>
            </a:r>
            <a:endParaRPr lang="en-US" sz="1200" dirty="0"/>
          </a:p>
          <a:p>
            <a:pPr algn="ctr" indent="0" marL="0">
              <a:buNone/>
            </a:pPr>
            <a:r>
              <a:rPr lang="en-US" sz="1200" dirty="0">
                <a:solidFill>
                  <a:schemeClr val="tx2"/>
                </a:solidFill>
              </a:rPr>
              <a:t>2+ cartas de intención</a:t>
            </a:r>
            <a:endParaRPr lang="en-US" sz="1200" dirty="0"/>
          </a:p>
        </p:txBody>
      </p:sp>
      <p:sp>
        <p:nvSpPr>
          <p:cNvPr id="28" name="Gate 2"/>
          <p:cNvSpPr/>
          <p:nvPr/>
        </p:nvSpPr>
        <p:spPr>
          <a:xfrm>
            <a:off x="4081272" y="2542032"/>
            <a:ext cx="310896" cy="310896"/>
          </a:xfrm>
          <a:prstGeom prst="diamond">
            <a:avLst/>
          </a:prstGeom>
          <a:solidFill>
            <a:schemeClr val="tx2"/>
          </a:solidFill>
          <a:ln/>
        </p:spPr>
      </p:sp>
      <p:sp>
        <p:nvSpPr>
          <p:cNvPr id="29" name="Gate texto 2"/>
          <p:cNvSpPr txBox="1"/>
          <p:nvPr/>
        </p:nvSpPr>
        <p:spPr>
          <a:xfrm>
            <a:off x="3368040" y="2880360"/>
            <a:ext cx="1737360" cy="502920"/>
          </a:xfrm>
          <a:prstGeom prst="rect">
            <a:avLst/>
          </a:prstGeom>
          <a:noFill/>
          <a:ln/>
        </p:spPr>
        <p:txBody>
          <a:bodyPr wrap="square" lIns="0" tIns="0" rIns="0" bIns="0" rtlCol="0" anchor="t"/>
          <a:lstStyle/>
          <a:p>
            <a:pPr algn="ctr" indent="0" marL="0">
              <a:buNone/>
            </a:pPr>
            <a:r>
              <a:rPr lang="en-US" sz="1200" b="1" dirty="0">
                <a:solidFill>
                  <a:schemeClr val="tx2"/>
                </a:solidFill>
              </a:rPr>
              <a:t>G2</a:t>
            </a:r>
            <a:endParaRPr lang="en-US" sz="1200" dirty="0"/>
          </a:p>
          <a:p>
            <a:pPr algn="ctr" indent="0" marL="0">
              <a:buNone/>
            </a:pPr>
            <a:r>
              <a:rPr lang="en-US" sz="1200" dirty="0">
                <a:solidFill>
                  <a:schemeClr val="tx2"/>
                </a:solidFill>
              </a:rPr>
              <a:t>80%+ completa tareas</a:t>
            </a:r>
            <a:endParaRPr lang="en-US" sz="1200" dirty="0"/>
          </a:p>
        </p:txBody>
      </p:sp>
      <p:sp>
        <p:nvSpPr>
          <p:cNvPr id="30" name="Gate 3"/>
          <p:cNvSpPr/>
          <p:nvPr/>
        </p:nvSpPr>
        <p:spPr>
          <a:xfrm>
            <a:off x="6847332" y="2542032"/>
            <a:ext cx="310896" cy="310896"/>
          </a:xfrm>
          <a:prstGeom prst="diamond">
            <a:avLst/>
          </a:prstGeom>
          <a:solidFill>
            <a:schemeClr val="tx2"/>
          </a:solidFill>
          <a:ln/>
        </p:spPr>
      </p:sp>
      <p:sp>
        <p:nvSpPr>
          <p:cNvPr id="31" name="Gate texto 3"/>
          <p:cNvSpPr txBox="1"/>
          <p:nvPr/>
        </p:nvSpPr>
        <p:spPr>
          <a:xfrm>
            <a:off x="6134100" y="2880360"/>
            <a:ext cx="1737360" cy="502920"/>
          </a:xfrm>
          <a:prstGeom prst="rect">
            <a:avLst/>
          </a:prstGeom>
          <a:noFill/>
          <a:ln/>
        </p:spPr>
        <p:txBody>
          <a:bodyPr wrap="square" lIns="0" tIns="0" rIns="0" bIns="0" rtlCol="0" anchor="t"/>
          <a:lstStyle/>
          <a:p>
            <a:pPr algn="ctr" indent="0" marL="0">
              <a:buNone/>
            </a:pPr>
            <a:r>
              <a:rPr lang="en-US" sz="1200" b="1" dirty="0">
                <a:solidFill>
                  <a:schemeClr val="tx2"/>
                </a:solidFill>
              </a:rPr>
              <a:t>G3</a:t>
            </a:r>
            <a:endParaRPr lang="en-US" sz="1200" dirty="0"/>
          </a:p>
          <a:p>
            <a:pPr algn="ctr" indent="0" marL="0">
              <a:buNone/>
            </a:pPr>
            <a:r>
              <a:rPr lang="en-US" sz="1200" dirty="0">
                <a:solidFill>
                  <a:schemeClr val="tx2"/>
                </a:solidFill>
              </a:rPr>
              <a:t>Kill criteria del piloto</a:t>
            </a:r>
            <a:endParaRPr lang="en-US" sz="1200" dirty="0"/>
          </a:p>
        </p:txBody>
      </p:sp>
      <p:sp>
        <p:nvSpPr>
          <p:cNvPr id="32" name="Caja MVP"/>
          <p:cNvSpPr/>
          <p:nvPr/>
        </p:nvSpPr>
        <p:spPr>
          <a:xfrm>
            <a:off x="548640" y="3520440"/>
            <a:ext cx="3566160" cy="2606040"/>
          </a:xfrm>
          <a:prstGeom prst="roundRect">
            <a:avLst>
              <a:gd name="adj" fmla="val 4211"/>
            </a:avLst>
          </a:prstGeom>
          <a:solidFill>
            <a:schemeClr val="bg2"/>
          </a:solidFill>
          <a:ln/>
        </p:spPr>
      </p:sp>
      <p:sp>
        <p:nvSpPr>
          <p:cNvPr id="33" name="Caja MVP círculo"/>
          <p:cNvSpPr/>
          <p:nvPr/>
        </p:nvSpPr>
        <p:spPr>
          <a:xfrm>
            <a:off x="777240" y="3749040"/>
            <a:ext cx="548640" cy="548640"/>
          </a:xfrm>
          <a:prstGeom prst="ellipse">
            <a:avLst/>
          </a:prstGeom>
          <a:solidFill>
            <a:schemeClr val="accent1"/>
          </a:solidFill>
          <a:ln/>
        </p:spPr>
      </p:sp>
      <p:pic>
        <p:nvPicPr>
          <p:cNvPr id="34" name="Caja MVP icono" descr="preencoded.png">    </p:cNvPr>
          <p:cNvPicPr>
            <a:picLocks noChangeAspect="1"/>
          </p:cNvPicPr>
          <p:nvPr/>
        </p:nvPicPr>
        <p:blipFill>
          <a:blip r:embed="rId1"/>
          <a:stretch>
            <a:fillRect/>
          </a:stretch>
        </p:blipFill>
        <p:spPr>
          <a:xfrm>
            <a:off x="908914" y="3880714"/>
            <a:ext cx="285293" cy="285293"/>
          </a:xfrm>
          <a:prstGeom prst="rect">
            <a:avLst/>
          </a:prstGeom>
        </p:spPr>
      </p:pic>
      <p:sp>
        <p:nvSpPr>
          <p:cNvPr id="35" name="Caja título 1"/>
          <p:cNvSpPr txBox="1"/>
          <p:nvPr/>
        </p:nvSpPr>
        <p:spPr>
          <a:xfrm>
            <a:off x="1463040" y="3822192"/>
            <a:ext cx="2468880" cy="365760"/>
          </a:xfrm>
          <a:prstGeom prst="rect">
            <a:avLst/>
          </a:prstGeom>
          <a:noFill/>
          <a:ln/>
        </p:spPr>
        <p:txBody>
          <a:bodyPr wrap="square" lIns="0" tIns="0" rIns="0" bIns="0" rtlCol="0" anchor="t"/>
          <a:lstStyle/>
          <a:p>
            <a:pPr indent="0" marL="0">
              <a:buNone/>
            </a:pPr>
            <a:r>
              <a:rPr lang="en-US" sz="1800" b="1" dirty="0">
                <a:solidFill>
                  <a:schemeClr val="accent1"/>
                </a:solidFill>
                <a:latin typeface="Cambria" pitchFamily="34" charset="0"/>
                <a:ea typeface="Cambria" pitchFamily="34" charset="-122"/>
                <a:cs typeface="Cambria" pitchFamily="34" charset="-120"/>
              </a:rPr>
              <a:t>MVP</a:t>
            </a:r>
            <a:endParaRPr lang="en-US" sz="1800" dirty="0"/>
          </a:p>
        </p:txBody>
      </p:sp>
      <p:sp>
        <p:nvSpPr>
          <p:cNvPr id="36" name="Caja texto 1"/>
          <p:cNvSpPr txBox="1"/>
          <p:nvPr/>
        </p:nvSpPr>
        <p:spPr>
          <a:xfrm>
            <a:off x="822960" y="4480560"/>
            <a:ext cx="3063240" cy="150876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1 banco · 5.000 tarjetas 60+</a:t>
            </a:r>
            <a:endParaRPr lang="en-US" sz="1400" dirty="0"/>
          </a:p>
          <a:p>
            <a:pPr marL="342900" indent="-342900">
              <a:spcAft>
                <a:spcPts val="400"/>
              </a:spcAft>
              <a:buSzPct val="100000"/>
              <a:buChar char="•"/>
            </a:pPr>
            <a:r>
              <a:rPr lang="en-US" sz="1400" dirty="0">
                <a:solidFill>
                  <a:schemeClr val="tx1"/>
                </a:solidFill>
              </a:rPr>
              <a:t>12 semanas</a:t>
            </a:r>
            <a:endParaRPr lang="en-US" sz="1400" dirty="0"/>
          </a:p>
          <a:p>
            <a:pPr marL="342900" indent="-342900">
              <a:spcAft>
                <a:spcPts val="400"/>
              </a:spcAft>
              <a:buSzPct val="100000"/>
              <a:buChar char="•"/>
            </a:pPr>
            <a:r>
              <a:rPr lang="en-US" sz="1400" dirty="0">
                <a:solidFill>
                  <a:schemeClr val="tx1"/>
                </a:solidFill>
              </a:rPr>
              <a:t>Grupo de control para comparar</a:t>
            </a:r>
            <a:endParaRPr lang="en-US" sz="1400" dirty="0"/>
          </a:p>
        </p:txBody>
      </p:sp>
      <p:sp>
        <p:nvSpPr>
          <p:cNvPr id="37" name="Caja North Star"/>
          <p:cNvSpPr/>
          <p:nvPr/>
        </p:nvSpPr>
        <p:spPr>
          <a:xfrm>
            <a:off x="4297680" y="3520440"/>
            <a:ext cx="3566160" cy="2606040"/>
          </a:xfrm>
          <a:prstGeom prst="roundRect">
            <a:avLst>
              <a:gd name="adj" fmla="val 4211"/>
            </a:avLst>
          </a:prstGeom>
          <a:solidFill>
            <a:schemeClr val="bg2"/>
          </a:solidFill>
          <a:ln/>
        </p:spPr>
      </p:sp>
      <p:sp>
        <p:nvSpPr>
          <p:cNvPr id="38" name="Caja North Star círculo"/>
          <p:cNvSpPr/>
          <p:nvPr/>
        </p:nvSpPr>
        <p:spPr>
          <a:xfrm>
            <a:off x="4526280" y="3749040"/>
            <a:ext cx="548640" cy="548640"/>
          </a:xfrm>
          <a:prstGeom prst="ellipse">
            <a:avLst/>
          </a:prstGeom>
          <a:solidFill>
            <a:schemeClr val="accent1"/>
          </a:solidFill>
          <a:ln/>
        </p:spPr>
      </p:sp>
      <p:pic>
        <p:nvPicPr>
          <p:cNvPr id="39" name="Caja North Star icono" descr="preencoded.png">    </p:cNvPr>
          <p:cNvPicPr>
            <a:picLocks noChangeAspect="1"/>
          </p:cNvPicPr>
          <p:nvPr/>
        </p:nvPicPr>
        <p:blipFill>
          <a:blip r:embed="rId2"/>
          <a:stretch>
            <a:fillRect/>
          </a:stretch>
        </p:blipFill>
        <p:spPr>
          <a:xfrm>
            <a:off x="4657954" y="3880714"/>
            <a:ext cx="285293" cy="285293"/>
          </a:xfrm>
          <a:prstGeom prst="rect">
            <a:avLst/>
          </a:prstGeom>
        </p:spPr>
      </p:pic>
      <p:sp>
        <p:nvSpPr>
          <p:cNvPr id="40" name="Caja título 2"/>
          <p:cNvSpPr txBox="1"/>
          <p:nvPr/>
        </p:nvSpPr>
        <p:spPr>
          <a:xfrm>
            <a:off x="5212080" y="3822192"/>
            <a:ext cx="2468880" cy="365760"/>
          </a:xfrm>
          <a:prstGeom prst="rect">
            <a:avLst/>
          </a:prstGeom>
          <a:noFill/>
          <a:ln/>
        </p:spPr>
        <p:txBody>
          <a:bodyPr wrap="square" lIns="0" tIns="0" rIns="0" bIns="0" rtlCol="0" anchor="t"/>
          <a:lstStyle/>
          <a:p>
            <a:pPr indent="0" marL="0">
              <a:buNone/>
            </a:pPr>
            <a:r>
              <a:rPr lang="en-US" sz="1800" b="1" dirty="0">
                <a:solidFill>
                  <a:schemeClr val="accent1"/>
                </a:solidFill>
                <a:latin typeface="Cambria" pitchFamily="34" charset="0"/>
                <a:ea typeface="Cambria" pitchFamily="34" charset="-122"/>
                <a:cs typeface="Cambria" pitchFamily="34" charset="-120"/>
              </a:rPr>
              <a:t>North Star</a:t>
            </a:r>
            <a:endParaRPr lang="en-US" sz="1800" dirty="0"/>
          </a:p>
        </p:txBody>
      </p:sp>
      <p:sp>
        <p:nvSpPr>
          <p:cNvPr id="41" name="North Star valor"/>
          <p:cNvSpPr txBox="1"/>
          <p:nvPr/>
        </p:nvSpPr>
        <p:spPr>
          <a:xfrm>
            <a:off x="4572000" y="4389120"/>
            <a:ext cx="3017520" cy="685800"/>
          </a:xfrm>
          <a:prstGeom prst="rect">
            <a:avLst/>
          </a:prstGeom>
          <a:noFill/>
          <a:ln/>
        </p:spPr>
        <p:txBody>
          <a:bodyPr wrap="square" lIns="0" tIns="0" rIns="0" bIns="0" rtlCol="0" anchor="t"/>
          <a:lstStyle/>
          <a:p>
            <a:pPr indent="0" marL="0">
              <a:buNone/>
            </a:pPr>
            <a:r>
              <a:rPr lang="en-US" sz="4000" b="1" dirty="0">
                <a:solidFill>
                  <a:schemeClr val="accent3"/>
                </a:solidFill>
                <a:latin typeface="Cambria" pitchFamily="34" charset="0"/>
                <a:ea typeface="Cambria" pitchFamily="34" charset="-122"/>
                <a:cs typeface="Cambria" pitchFamily="34" charset="-120"/>
              </a:rPr>
              <a:t>4+</a:t>
            </a:r>
            <a:endParaRPr lang="en-US" sz="4000" dirty="0"/>
          </a:p>
        </p:txBody>
      </p:sp>
      <p:sp>
        <p:nvSpPr>
          <p:cNvPr id="42" name="Caja texto 2"/>
          <p:cNvSpPr txBox="1"/>
          <p:nvPr/>
        </p:nvSpPr>
        <p:spPr>
          <a:xfrm>
            <a:off x="4572000" y="5120640"/>
            <a:ext cx="3063240" cy="86868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pagos digitales al mes por persona inscrita</a:t>
            </a:r>
            <a:endParaRPr lang="en-US" sz="1400" dirty="0"/>
          </a:p>
          <a:p>
            <a:pPr indent="0" marL="0">
              <a:spcAft>
                <a:spcPts val="400"/>
              </a:spcAft>
              <a:buNone/>
            </a:pPr>
            <a:r>
              <a:rPr lang="en-US" sz="1400" dirty="0">
                <a:solidFill>
                  <a:schemeClr val="tx1"/>
                </a:solidFill>
              </a:rPr>
              <a:t>Mide uso real, no solo inscripciones</a:t>
            </a:r>
            <a:endParaRPr lang="en-US" sz="1400" dirty="0"/>
          </a:p>
        </p:txBody>
      </p:sp>
      <p:sp>
        <p:nvSpPr>
          <p:cNvPr id="43" name="Caja Kill criteria"/>
          <p:cNvSpPr/>
          <p:nvPr/>
        </p:nvSpPr>
        <p:spPr>
          <a:xfrm>
            <a:off x="8046720" y="3520440"/>
            <a:ext cx="3566160" cy="2606040"/>
          </a:xfrm>
          <a:prstGeom prst="roundRect">
            <a:avLst>
              <a:gd name="adj" fmla="val 4211"/>
            </a:avLst>
          </a:prstGeom>
          <a:solidFill>
            <a:schemeClr val="bg2"/>
          </a:solidFill>
          <a:ln/>
        </p:spPr>
      </p:sp>
      <p:sp>
        <p:nvSpPr>
          <p:cNvPr id="44" name="Caja Kill criteria círculo"/>
          <p:cNvSpPr/>
          <p:nvPr/>
        </p:nvSpPr>
        <p:spPr>
          <a:xfrm>
            <a:off x="8275320" y="3749040"/>
            <a:ext cx="548640" cy="548640"/>
          </a:xfrm>
          <a:prstGeom prst="ellipse">
            <a:avLst/>
          </a:prstGeom>
          <a:solidFill>
            <a:schemeClr val="accent6"/>
          </a:solidFill>
          <a:ln/>
        </p:spPr>
      </p:sp>
      <p:pic>
        <p:nvPicPr>
          <p:cNvPr id="45" name="Caja Kill criteria icono" descr="preencoded.png">    </p:cNvPr>
          <p:cNvPicPr>
            <a:picLocks noChangeAspect="1"/>
          </p:cNvPicPr>
          <p:nvPr/>
        </p:nvPicPr>
        <p:blipFill>
          <a:blip r:embed="rId3"/>
          <a:stretch>
            <a:fillRect/>
          </a:stretch>
        </p:blipFill>
        <p:spPr>
          <a:xfrm>
            <a:off x="8406994" y="3880714"/>
            <a:ext cx="285293" cy="285293"/>
          </a:xfrm>
          <a:prstGeom prst="rect">
            <a:avLst/>
          </a:prstGeom>
        </p:spPr>
      </p:pic>
      <p:sp>
        <p:nvSpPr>
          <p:cNvPr id="46" name="Caja título 3"/>
          <p:cNvSpPr txBox="1"/>
          <p:nvPr/>
        </p:nvSpPr>
        <p:spPr>
          <a:xfrm>
            <a:off x="8961120" y="3822192"/>
            <a:ext cx="2468880" cy="365760"/>
          </a:xfrm>
          <a:prstGeom prst="rect">
            <a:avLst/>
          </a:prstGeom>
          <a:noFill/>
          <a:ln/>
        </p:spPr>
        <p:txBody>
          <a:bodyPr wrap="square" lIns="0" tIns="0" rIns="0" bIns="0" rtlCol="0" anchor="t"/>
          <a:lstStyle/>
          <a:p>
            <a:pPr indent="0" marL="0">
              <a:buNone/>
            </a:pPr>
            <a:r>
              <a:rPr lang="en-US" sz="1800" b="1" dirty="0">
                <a:solidFill>
                  <a:schemeClr val="accent6"/>
                </a:solidFill>
                <a:latin typeface="Cambria" pitchFamily="34" charset="0"/>
                <a:ea typeface="Cambria" pitchFamily="34" charset="-122"/>
                <a:cs typeface="Cambria" pitchFamily="34" charset="-120"/>
              </a:rPr>
              <a:t>Kill criteria</a:t>
            </a:r>
            <a:endParaRPr lang="en-US" sz="1800" dirty="0"/>
          </a:p>
        </p:txBody>
      </p:sp>
      <p:sp>
        <p:nvSpPr>
          <p:cNvPr id="47" name="Caja texto 3"/>
          <p:cNvSpPr txBox="1"/>
          <p:nvPr/>
        </p:nvSpPr>
        <p:spPr>
          <a:xfrm>
            <a:off x="8321040" y="4480560"/>
            <a:ext cx="3063240" cy="150876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Inscripción menor al 10% a las 8 semanas</a:t>
            </a:r>
            <a:endParaRPr lang="en-US" sz="1400" dirty="0"/>
          </a:p>
          <a:p>
            <a:pPr marL="342900" indent="-342900">
              <a:spcAft>
                <a:spcPts val="400"/>
              </a:spcAft>
              <a:buSzPct val="100000"/>
              <a:buChar char="•"/>
            </a:pPr>
            <a:r>
              <a:rPr lang="en-US" sz="1400" dirty="0">
                <a:solidFill>
                  <a:schemeClr val="tx1"/>
                </a:solidFill>
              </a:rPr>
              <a:t>Sin mejora en fraude ni uso vs. control</a:t>
            </a:r>
            <a:endParaRPr lang="en-US" sz="1400" dirty="0"/>
          </a:p>
          <a:p>
            <a:pPr marL="342900" indent="-342900">
              <a:spcAft>
                <a:spcPts val="400"/>
              </a:spcAft>
              <a:buSzPct val="100000"/>
              <a:buChar char="•"/>
            </a:pPr>
            <a:r>
              <a:rPr lang="en-US" sz="1400" dirty="0">
                <a:solidFill>
                  <a:schemeClr val="tx1"/>
                </a:solidFill>
              </a:rPr>
              <a:t>Ningún banco dispuesto a pagar</a:t>
            </a:r>
            <a:endParaRPr lang="en-US" sz="14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64240" cy="292608"/>
          </a:xfrm>
          <a:prstGeom prst="rect">
            <a:avLst/>
          </a:prstGeom>
          <a:noFill/>
          <a:ln/>
        </p:spPr>
        <p:txBody>
          <a:bodyPr wrap="square" lIns="0" tIns="0" rIns="0" bIns="0" rtlCol="0" anchor="t"/>
          <a:lstStyle/>
          <a:p>
            <a:pPr indent="0" marL="0">
              <a:buNone/>
            </a:pPr>
            <a:r>
              <a:rPr lang="en-US" sz="1200" b="1" spc="200" kern="0" dirty="0">
                <a:solidFill>
                  <a:schemeClr val="accent2"/>
                </a:solidFill>
              </a:rPr>
              <a:t>5 · BUSINESS CASE</a:t>
            </a:r>
            <a:endParaRPr lang="en-US" sz="1200" dirty="0"/>
          </a:p>
        </p:txBody>
      </p:sp>
      <p:sp>
        <p:nvSpPr>
          <p:cNvPr id="3" name="Text 0"/>
          <p:cNvSpPr/>
          <p:nvPr>
            <p:ph idx="101" type="title" hasCustomPrompt="1"/>
          </p:nvPr>
        </p:nvSpPr>
        <p:spPr>
          <a:xfrm>
            <a:off x="548640" y="640080"/>
            <a:ext cx="11064240" cy="685800"/>
          </a:xfrm>
          <a:prstGeom prst="rect">
            <a:avLst/>
          </a:prstGeom>
          <a:noFill/>
          <a:ln/>
        </p:spPr>
        <p:txBody>
          <a:bodyPr wrap="square" lIns="0" tIns="0" rIns="0" bIns="0" rtlCol="0" anchor="t"/>
          <a:lstStyle/>
          <a:p>
            <a:pPr algn="l" indent="0" marL="0">
              <a:buNone/>
            </a:pPr>
            <a:r>
              <a:rPr lang="en-US" sz="3000" b="1" dirty="0">
                <a:solidFill>
                  <a:schemeClr val="tx2"/>
                </a:solidFill>
                <a:latin typeface="Cambria" pitchFamily="34" charset="0"/>
                <a:ea typeface="Cambria" pitchFamily="34" charset="-122"/>
                <a:cs typeface="Cambria" pitchFamily="34" charset="-120"/>
              </a:rPr>
              <a:t>Aprobado con condiciones: un piloto acotado antes de escalar</a:t>
            </a:r>
            <a:endParaRPr lang="en-US" sz="3000" dirty="0"/>
          </a:p>
        </p:txBody>
      </p:sp>
      <p:sp>
        <p:nvSpPr>
          <p:cNvPr id="4" name="Título embudo"/>
          <p:cNvSpPr txBox="1"/>
          <p:nvPr/>
        </p:nvSpPr>
        <p:spPr>
          <a:xfrm>
            <a:off x="548640" y="1554480"/>
            <a:ext cx="4023360" cy="320040"/>
          </a:xfrm>
          <a:prstGeom prst="rect">
            <a:avLst/>
          </a:prstGeom>
          <a:noFill/>
          <a:ln/>
        </p:spPr>
        <p:txBody>
          <a:bodyPr wrap="square" lIns="0" tIns="0" rIns="0" bIns="0" rtlCol="0" anchor="t"/>
          <a:lstStyle/>
          <a:p>
            <a:pPr indent="0" marL="0">
              <a:buNone/>
            </a:pPr>
            <a:r>
              <a:rPr lang="en-US" sz="1500" b="1" dirty="0">
                <a:solidFill>
                  <a:schemeClr val="tx2"/>
                </a:solidFill>
              </a:rPr>
              <a:t>Del mercado total a la adopción (año 3)</a:t>
            </a:r>
            <a:endParaRPr lang="en-US" sz="1500" dirty="0"/>
          </a:p>
        </p:txBody>
      </p:sp>
      <p:sp>
        <p:nvSpPr>
          <p:cNvPr id="5" name="Embudo 1"/>
          <p:cNvSpPr/>
          <p:nvPr/>
        </p:nvSpPr>
        <p:spPr>
          <a:xfrm>
            <a:off x="548640" y="1965960"/>
            <a:ext cx="4023360" cy="603504"/>
          </a:xfrm>
          <a:prstGeom prst="roundRect">
            <a:avLst>
              <a:gd name="adj" fmla="val 12121"/>
            </a:avLst>
          </a:prstGeom>
          <a:solidFill>
            <a:schemeClr val="accent1"/>
          </a:solidFill>
          <a:ln/>
        </p:spPr>
      </p:sp>
      <p:sp>
        <p:nvSpPr>
          <p:cNvPr id="6" name="Embudo texto 1"/>
          <p:cNvSpPr txBox="1"/>
          <p:nvPr/>
        </p:nvSpPr>
        <p:spPr>
          <a:xfrm>
            <a:off x="548640" y="1965960"/>
            <a:ext cx="4023360" cy="603504"/>
          </a:xfrm>
          <a:prstGeom prst="rect">
            <a:avLst/>
          </a:prstGeom>
          <a:noFill/>
          <a:ln/>
        </p:spPr>
        <p:txBody>
          <a:bodyPr wrap="square" lIns="0" tIns="0" rIns="0" bIns="0" rtlCol="0" anchor="ctr"/>
          <a:lstStyle/>
          <a:p>
            <a:pPr algn="ctr" indent="0" marL="0">
              <a:buNone/>
            </a:pPr>
            <a:r>
              <a:rPr lang="en-US" sz="1600" b="1" dirty="0">
                <a:solidFill>
                  <a:schemeClr val="bg1"/>
                </a:solidFill>
              </a:rPr>
              <a:t>8,0 M  </a:t>
            </a:r>
            <a:pPr algn="ctr" indent="0" marL="0">
              <a:buNone/>
            </a:pPr>
            <a:r>
              <a:rPr lang="en-US" sz="1200" dirty="0">
                <a:solidFill>
                  <a:schemeClr val="bg1"/>
                </a:solidFill>
              </a:rPr>
              <a:t>personas 60+ (TAM)</a:t>
            </a:r>
            <a:endParaRPr lang="en-US" sz="1600" dirty="0"/>
          </a:p>
        </p:txBody>
      </p:sp>
      <p:sp>
        <p:nvSpPr>
          <p:cNvPr id="7" name="Embudo 2"/>
          <p:cNvSpPr/>
          <p:nvPr/>
        </p:nvSpPr>
        <p:spPr>
          <a:xfrm>
            <a:off x="800100" y="2679192"/>
            <a:ext cx="3520440" cy="603504"/>
          </a:xfrm>
          <a:prstGeom prst="roundRect">
            <a:avLst>
              <a:gd name="adj" fmla="val 12121"/>
            </a:avLst>
          </a:prstGeom>
          <a:solidFill>
            <a:schemeClr val="accent2"/>
          </a:solidFill>
          <a:ln/>
        </p:spPr>
      </p:sp>
      <p:sp>
        <p:nvSpPr>
          <p:cNvPr id="8" name="Embudo texto 2"/>
          <p:cNvSpPr txBox="1"/>
          <p:nvPr/>
        </p:nvSpPr>
        <p:spPr>
          <a:xfrm>
            <a:off x="800100" y="2679192"/>
            <a:ext cx="3520440" cy="603504"/>
          </a:xfrm>
          <a:prstGeom prst="rect">
            <a:avLst/>
          </a:prstGeom>
          <a:noFill/>
          <a:ln/>
        </p:spPr>
        <p:txBody>
          <a:bodyPr wrap="square" lIns="0" tIns="0" rIns="0" bIns="0" rtlCol="0" anchor="ctr"/>
          <a:lstStyle/>
          <a:p>
            <a:pPr algn="ctr" indent="0" marL="0">
              <a:buNone/>
            </a:pPr>
            <a:r>
              <a:rPr lang="en-US" sz="1600" b="1" dirty="0">
                <a:solidFill>
                  <a:schemeClr val="bg1"/>
                </a:solidFill>
              </a:rPr>
              <a:t>3,5 M  </a:t>
            </a:r>
            <a:pPr algn="ctr" indent="0" marL="0">
              <a:buNone/>
            </a:pPr>
            <a:r>
              <a:rPr lang="en-US" sz="1200" dirty="0">
                <a:solidFill>
                  <a:schemeClr val="bg1"/>
                </a:solidFill>
              </a:rPr>
              <a:t>con tarjeta activa (SAM)</a:t>
            </a:r>
            <a:endParaRPr lang="en-US" sz="1600" dirty="0"/>
          </a:p>
        </p:txBody>
      </p:sp>
      <p:sp>
        <p:nvSpPr>
          <p:cNvPr id="9" name="Embudo 3"/>
          <p:cNvSpPr/>
          <p:nvPr/>
        </p:nvSpPr>
        <p:spPr>
          <a:xfrm>
            <a:off x="1051560" y="3392424"/>
            <a:ext cx="3017520" cy="603504"/>
          </a:xfrm>
          <a:prstGeom prst="roundRect">
            <a:avLst>
              <a:gd name="adj" fmla="val 12121"/>
            </a:avLst>
          </a:prstGeom>
          <a:solidFill>
            <a:schemeClr val="accent5"/>
          </a:solidFill>
          <a:ln/>
        </p:spPr>
      </p:sp>
      <p:sp>
        <p:nvSpPr>
          <p:cNvPr id="10" name="Embudo texto 3"/>
          <p:cNvSpPr txBox="1"/>
          <p:nvPr/>
        </p:nvSpPr>
        <p:spPr>
          <a:xfrm>
            <a:off x="1051560" y="3392424"/>
            <a:ext cx="3017520" cy="603504"/>
          </a:xfrm>
          <a:prstGeom prst="rect">
            <a:avLst/>
          </a:prstGeom>
          <a:noFill/>
          <a:ln/>
        </p:spPr>
        <p:txBody>
          <a:bodyPr wrap="square" lIns="0" tIns="0" rIns="0" bIns="0" rtlCol="0" anchor="ctr"/>
          <a:lstStyle/>
          <a:p>
            <a:pPr algn="ctr" indent="0" marL="0">
              <a:buNone/>
            </a:pPr>
            <a:r>
              <a:rPr lang="en-US" sz="1600" b="1" dirty="0">
                <a:solidFill>
                  <a:schemeClr val="tx1"/>
                </a:solidFill>
              </a:rPr>
              <a:t>1,4 M  </a:t>
            </a:r>
            <a:pPr algn="ctr" indent="0" marL="0">
              <a:buNone/>
            </a:pPr>
            <a:r>
              <a:rPr lang="en-US" sz="1200" dirty="0">
                <a:solidFill>
                  <a:schemeClr val="tx1"/>
                </a:solidFill>
              </a:rPr>
              <a:t>en bancos clientes (SOM)</a:t>
            </a:r>
            <a:endParaRPr lang="en-US" sz="1600" dirty="0"/>
          </a:p>
        </p:txBody>
      </p:sp>
      <p:sp>
        <p:nvSpPr>
          <p:cNvPr id="11" name="Embudo 4"/>
          <p:cNvSpPr/>
          <p:nvPr/>
        </p:nvSpPr>
        <p:spPr>
          <a:xfrm>
            <a:off x="1303020" y="4105656"/>
            <a:ext cx="2514600" cy="603504"/>
          </a:xfrm>
          <a:prstGeom prst="roundRect">
            <a:avLst>
              <a:gd name="adj" fmla="val 12121"/>
            </a:avLst>
          </a:prstGeom>
          <a:solidFill>
            <a:schemeClr val="accent3"/>
          </a:solidFill>
          <a:ln/>
        </p:spPr>
      </p:sp>
      <p:sp>
        <p:nvSpPr>
          <p:cNvPr id="12" name="Embudo texto 4"/>
          <p:cNvSpPr txBox="1"/>
          <p:nvPr/>
        </p:nvSpPr>
        <p:spPr>
          <a:xfrm>
            <a:off x="1303020" y="4105656"/>
            <a:ext cx="2514600" cy="603504"/>
          </a:xfrm>
          <a:prstGeom prst="rect">
            <a:avLst/>
          </a:prstGeom>
          <a:noFill/>
          <a:ln/>
        </p:spPr>
        <p:txBody>
          <a:bodyPr wrap="square" lIns="0" tIns="0" rIns="0" bIns="0" rtlCol="0" anchor="ctr"/>
          <a:lstStyle/>
          <a:p>
            <a:pPr algn="ctr" indent="0" marL="0">
              <a:buNone/>
            </a:pPr>
            <a:r>
              <a:rPr lang="en-US" sz="1600" b="1" dirty="0">
                <a:solidFill>
                  <a:schemeClr val="tx1"/>
                </a:solidFill>
              </a:rPr>
              <a:t>560 mil  </a:t>
            </a:r>
            <a:pPr algn="ctr" indent="0" marL="0">
              <a:buNone/>
            </a:pPr>
            <a:r>
              <a:rPr lang="en-US" sz="1200" dirty="0">
                <a:solidFill>
                  <a:schemeClr val="tx1"/>
                </a:solidFill>
              </a:rPr>
              <a:t>tarjetas protegidas</a:t>
            </a:r>
            <a:endParaRPr lang="en-US" sz="1600" dirty="0"/>
          </a:p>
        </p:txBody>
      </p:sp>
      <p:sp>
        <p:nvSpPr>
          <p:cNvPr id="13" name="Título gráfico flujo"/>
          <p:cNvSpPr txBox="1"/>
          <p:nvPr/>
        </p:nvSpPr>
        <p:spPr>
          <a:xfrm>
            <a:off x="4892040" y="1554480"/>
            <a:ext cx="4206240" cy="320040"/>
          </a:xfrm>
          <a:prstGeom prst="rect">
            <a:avLst/>
          </a:prstGeom>
          <a:noFill/>
          <a:ln/>
        </p:spPr>
        <p:txBody>
          <a:bodyPr wrap="square" lIns="0" tIns="0" rIns="0" bIns="0" rtlCol="0" anchor="t"/>
          <a:lstStyle/>
          <a:p>
            <a:pPr indent="0" marL="0">
              <a:buNone/>
            </a:pPr>
            <a:r>
              <a:rPr lang="en-US" sz="1500" b="1" dirty="0">
                <a:solidFill>
                  <a:schemeClr val="tx2"/>
                </a:solidFill>
              </a:rPr>
              <a:t>Flujo de caja acumulado · COP millones</a:t>
            </a:r>
            <a:endParaRPr lang="en-US" sz="1500" dirty="0"/>
          </a:p>
        </p:txBody>
      </p:sp>
      <p:graphicFrame>
        <p:nvGraphicFramePr>
          <p:cNvPr id="14" name="Gráfico flujo acumulado" descr=""/>
          <p:cNvGraphicFramePr/>
          <p:nvPr/>
        </p:nvGraphicFramePr>
        <p:xfrm>
          <a:off x="4754880" y="1874520"/>
          <a:ext cx="4389120" cy="2834640"/>
        </p:xfrm>
        <a:graphic xmlns:a="http://schemas.openxmlformats.org/drawingml/2006/main">
          <a:graphicData uri="http://schemas.openxmlformats.org/drawingml/2006/chart">
            <c:chart xmlns:c="http://schemas.openxmlformats.org/drawingml/2006/chart" r:id="rId1"/>
          </a:graphicData>
        </a:graphic>
      </p:graphicFrame>
      <p:sp>
        <p:nvSpPr>
          <p:cNvPr id="15" name="Título KPIs"/>
          <p:cNvSpPr txBox="1"/>
          <p:nvPr/>
        </p:nvSpPr>
        <p:spPr>
          <a:xfrm>
            <a:off x="9418320" y="1554480"/>
            <a:ext cx="2194560" cy="320040"/>
          </a:xfrm>
          <a:prstGeom prst="rect">
            <a:avLst/>
          </a:prstGeom>
          <a:noFill/>
          <a:ln/>
        </p:spPr>
        <p:txBody>
          <a:bodyPr wrap="square" lIns="0" tIns="0" rIns="0" bIns="0" rtlCol="0" anchor="t"/>
          <a:lstStyle/>
          <a:p>
            <a:pPr indent="0" marL="0">
              <a:buNone/>
            </a:pPr>
            <a:r>
              <a:rPr lang="en-US" sz="1500" b="1" dirty="0">
                <a:solidFill>
                  <a:schemeClr val="tx2"/>
                </a:solidFill>
              </a:rPr>
              <a:t>Escenario base</a:t>
            </a:r>
            <a:endParaRPr lang="en-US" sz="1500" dirty="0"/>
          </a:p>
        </p:txBody>
      </p:sp>
      <p:sp>
        <p:nvSpPr>
          <p:cNvPr id="16" name="KPI 1"/>
          <p:cNvSpPr/>
          <p:nvPr/>
        </p:nvSpPr>
        <p:spPr>
          <a:xfrm>
            <a:off x="9418320" y="1965960"/>
            <a:ext cx="2194560" cy="822960"/>
          </a:xfrm>
          <a:prstGeom prst="roundRect">
            <a:avLst>
              <a:gd name="adj" fmla="val 13333"/>
            </a:avLst>
          </a:prstGeom>
          <a:solidFill>
            <a:schemeClr val="bg2"/>
          </a:solidFill>
          <a:ln/>
        </p:spPr>
      </p:sp>
      <p:sp>
        <p:nvSpPr>
          <p:cNvPr id="17" name="KPI valor 1"/>
          <p:cNvSpPr txBox="1"/>
          <p:nvPr/>
        </p:nvSpPr>
        <p:spPr>
          <a:xfrm>
            <a:off x="9555480" y="2020824"/>
            <a:ext cx="1920240" cy="438912"/>
          </a:xfrm>
          <a:prstGeom prst="rect">
            <a:avLst/>
          </a:prstGeom>
          <a:noFill/>
          <a:ln/>
        </p:spPr>
        <p:txBody>
          <a:bodyPr wrap="square" lIns="0" tIns="0" rIns="0" bIns="0" rtlCol="0" anchor="t"/>
          <a:lstStyle/>
          <a:p>
            <a:pPr indent="0" marL="0">
              <a:buNone/>
            </a:pPr>
            <a:r>
              <a:rPr lang="en-US" sz="2400" b="1" dirty="0">
                <a:solidFill>
                  <a:schemeClr val="accent1"/>
                </a:solidFill>
                <a:latin typeface="Cambria" pitchFamily="34" charset="0"/>
                <a:ea typeface="Cambria" pitchFamily="34" charset="-122"/>
                <a:cs typeface="Cambria" pitchFamily="34" charset="-120"/>
              </a:rPr>
              <a:t>149%</a:t>
            </a:r>
            <a:endParaRPr lang="en-US" sz="2400" dirty="0"/>
          </a:p>
        </p:txBody>
      </p:sp>
      <p:sp>
        <p:nvSpPr>
          <p:cNvPr id="18" name="KPI etiqueta 1"/>
          <p:cNvSpPr txBox="1"/>
          <p:nvPr/>
        </p:nvSpPr>
        <p:spPr>
          <a:xfrm>
            <a:off x="9555480" y="2468880"/>
            <a:ext cx="1920240" cy="256032"/>
          </a:xfrm>
          <a:prstGeom prst="rect">
            <a:avLst/>
          </a:prstGeom>
          <a:noFill/>
          <a:ln/>
        </p:spPr>
        <p:txBody>
          <a:bodyPr wrap="square" lIns="0" tIns="0" rIns="0" bIns="0" rtlCol="0" anchor="t"/>
          <a:lstStyle/>
          <a:p>
            <a:pPr indent="0" marL="0">
              <a:buNone/>
            </a:pPr>
            <a:r>
              <a:rPr lang="en-US" sz="1200" dirty="0">
                <a:solidFill>
                  <a:schemeClr val="tx1"/>
                </a:solidFill>
              </a:rPr>
              <a:t>ROI a 3 años</a:t>
            </a:r>
            <a:endParaRPr lang="en-US" sz="1200" dirty="0"/>
          </a:p>
        </p:txBody>
      </p:sp>
      <p:sp>
        <p:nvSpPr>
          <p:cNvPr id="19" name="KPI 2"/>
          <p:cNvSpPr/>
          <p:nvPr/>
        </p:nvSpPr>
        <p:spPr>
          <a:xfrm>
            <a:off x="9418320" y="2898648"/>
            <a:ext cx="2194560" cy="822960"/>
          </a:xfrm>
          <a:prstGeom prst="roundRect">
            <a:avLst>
              <a:gd name="adj" fmla="val 13333"/>
            </a:avLst>
          </a:prstGeom>
          <a:solidFill>
            <a:schemeClr val="bg2"/>
          </a:solidFill>
          <a:ln/>
        </p:spPr>
      </p:sp>
      <p:sp>
        <p:nvSpPr>
          <p:cNvPr id="20" name="KPI valor 2"/>
          <p:cNvSpPr txBox="1"/>
          <p:nvPr/>
        </p:nvSpPr>
        <p:spPr>
          <a:xfrm>
            <a:off x="9555480" y="2953512"/>
            <a:ext cx="1920240" cy="438912"/>
          </a:xfrm>
          <a:prstGeom prst="rect">
            <a:avLst/>
          </a:prstGeom>
          <a:noFill/>
          <a:ln/>
        </p:spPr>
        <p:txBody>
          <a:bodyPr wrap="square" lIns="0" tIns="0" rIns="0" bIns="0" rtlCol="0" anchor="t"/>
          <a:lstStyle/>
          <a:p>
            <a:pPr indent="0" marL="0">
              <a:buNone/>
            </a:pPr>
            <a:r>
              <a:rPr lang="en-US" sz="2400" b="1" dirty="0">
                <a:solidFill>
                  <a:schemeClr val="accent1"/>
                </a:solidFill>
                <a:latin typeface="Cambria" pitchFamily="34" charset="0"/>
                <a:ea typeface="Cambria" pitchFamily="34" charset="-122"/>
                <a:cs typeface="Cambria" pitchFamily="34" charset="-120"/>
              </a:rPr>
              <a:t>COP 633 M</a:t>
            </a:r>
            <a:endParaRPr lang="en-US" sz="2400" dirty="0"/>
          </a:p>
        </p:txBody>
      </p:sp>
      <p:sp>
        <p:nvSpPr>
          <p:cNvPr id="21" name="KPI etiqueta 2"/>
          <p:cNvSpPr txBox="1"/>
          <p:nvPr/>
        </p:nvSpPr>
        <p:spPr>
          <a:xfrm>
            <a:off x="9555480" y="3401568"/>
            <a:ext cx="1920240" cy="256032"/>
          </a:xfrm>
          <a:prstGeom prst="rect">
            <a:avLst/>
          </a:prstGeom>
          <a:noFill/>
          <a:ln/>
        </p:spPr>
        <p:txBody>
          <a:bodyPr wrap="square" lIns="0" tIns="0" rIns="0" bIns="0" rtlCol="0" anchor="t"/>
          <a:lstStyle/>
          <a:p>
            <a:pPr indent="0" marL="0">
              <a:buNone/>
            </a:pPr>
            <a:r>
              <a:rPr lang="en-US" sz="1200" dirty="0">
                <a:solidFill>
                  <a:schemeClr val="tx1"/>
                </a:solidFill>
              </a:rPr>
              <a:t>VAN al 15%</a:t>
            </a:r>
            <a:endParaRPr lang="en-US" sz="1200" dirty="0"/>
          </a:p>
        </p:txBody>
      </p:sp>
      <p:sp>
        <p:nvSpPr>
          <p:cNvPr id="22" name="KPI 3"/>
          <p:cNvSpPr/>
          <p:nvPr/>
        </p:nvSpPr>
        <p:spPr>
          <a:xfrm>
            <a:off x="9418320" y="3831336"/>
            <a:ext cx="2194560" cy="822960"/>
          </a:xfrm>
          <a:prstGeom prst="roundRect">
            <a:avLst>
              <a:gd name="adj" fmla="val 13333"/>
            </a:avLst>
          </a:prstGeom>
          <a:solidFill>
            <a:schemeClr val="bg2"/>
          </a:solidFill>
          <a:ln/>
        </p:spPr>
      </p:sp>
      <p:sp>
        <p:nvSpPr>
          <p:cNvPr id="23" name="KPI valor 3"/>
          <p:cNvSpPr txBox="1"/>
          <p:nvPr/>
        </p:nvSpPr>
        <p:spPr>
          <a:xfrm>
            <a:off x="9555480" y="3886200"/>
            <a:ext cx="1920240" cy="438912"/>
          </a:xfrm>
          <a:prstGeom prst="rect">
            <a:avLst/>
          </a:prstGeom>
          <a:noFill/>
          <a:ln/>
        </p:spPr>
        <p:txBody>
          <a:bodyPr wrap="square" lIns="0" tIns="0" rIns="0" bIns="0" rtlCol="0" anchor="t"/>
          <a:lstStyle/>
          <a:p>
            <a:pPr indent="0" marL="0">
              <a:buNone/>
            </a:pPr>
            <a:r>
              <a:rPr lang="en-US" sz="2400" b="1" dirty="0">
                <a:solidFill>
                  <a:schemeClr val="accent1"/>
                </a:solidFill>
                <a:latin typeface="Cambria" pitchFamily="34" charset="0"/>
                <a:ea typeface="Cambria" pitchFamily="34" charset="-122"/>
                <a:cs typeface="Cambria" pitchFamily="34" charset="-120"/>
              </a:rPr>
              <a:t>27 meses</a:t>
            </a:r>
            <a:endParaRPr lang="en-US" sz="2400" dirty="0"/>
          </a:p>
        </p:txBody>
      </p:sp>
      <p:sp>
        <p:nvSpPr>
          <p:cNvPr id="24" name="KPI etiqueta 3"/>
          <p:cNvSpPr txBox="1"/>
          <p:nvPr/>
        </p:nvSpPr>
        <p:spPr>
          <a:xfrm>
            <a:off x="9555480" y="4334256"/>
            <a:ext cx="1920240" cy="256032"/>
          </a:xfrm>
          <a:prstGeom prst="rect">
            <a:avLst/>
          </a:prstGeom>
          <a:noFill/>
          <a:ln/>
        </p:spPr>
        <p:txBody>
          <a:bodyPr wrap="square" lIns="0" tIns="0" rIns="0" bIns="0" rtlCol="0" anchor="t"/>
          <a:lstStyle/>
          <a:p>
            <a:pPr indent="0" marL="0">
              <a:buNone/>
            </a:pPr>
            <a:r>
              <a:rPr lang="en-US" sz="1200" dirty="0">
                <a:solidFill>
                  <a:schemeClr val="tx1"/>
                </a:solidFill>
              </a:rPr>
              <a:t>payback</a:t>
            </a:r>
            <a:endParaRPr lang="en-US" sz="1200" dirty="0"/>
          </a:p>
        </p:txBody>
      </p:sp>
      <p:sp>
        <p:nvSpPr>
          <p:cNvPr id="25" name="Decisión fondo"/>
          <p:cNvSpPr/>
          <p:nvPr/>
        </p:nvSpPr>
        <p:spPr>
          <a:xfrm>
            <a:off x="548640" y="4983480"/>
            <a:ext cx="11064240" cy="1188720"/>
          </a:xfrm>
          <a:prstGeom prst="roundRect">
            <a:avLst>
              <a:gd name="adj" fmla="val 9231"/>
            </a:avLst>
          </a:prstGeom>
          <a:solidFill>
            <a:schemeClr val="tx2"/>
          </a:solidFill>
          <a:ln/>
        </p:spPr>
      </p:sp>
      <p:sp>
        <p:nvSpPr>
          <p:cNvPr id="26" name="Decisión texto"/>
          <p:cNvSpPr txBox="1"/>
          <p:nvPr/>
        </p:nvSpPr>
        <p:spPr>
          <a:xfrm>
            <a:off x="822960" y="5120640"/>
            <a:ext cx="10515600" cy="457200"/>
          </a:xfrm>
          <a:prstGeom prst="rect">
            <a:avLst/>
          </a:prstGeom>
          <a:noFill/>
          <a:ln/>
        </p:spPr>
        <p:txBody>
          <a:bodyPr wrap="square" lIns="0" tIns="0" rIns="0" bIns="0" rtlCol="0" anchor="t"/>
          <a:lstStyle/>
          <a:p>
            <a:pPr indent="0" marL="0">
              <a:buNone/>
            </a:pPr>
            <a:r>
              <a:rPr lang="en-US" sz="1700" b="1" dirty="0">
                <a:solidFill>
                  <a:schemeClr val="accent3"/>
                </a:solidFill>
              </a:rPr>
              <a:t>Decisión: </a:t>
            </a:r>
            <a:pPr indent="0" marL="0">
              <a:buNone/>
            </a:pPr>
            <a:r>
              <a:rPr lang="en-US" sz="1700" dirty="0">
                <a:solidFill>
                  <a:schemeClr val="bg1"/>
                </a:solidFill>
              </a:rPr>
              <a:t>aprobar ≈COP 850 M para discovery, MVP y piloto (la pérdida máxima). Escalar en el mes 7 solo si se cumplen los criterios.</a:t>
            </a:r>
            <a:endParaRPr lang="en-US" sz="1700" dirty="0"/>
          </a:p>
        </p:txBody>
      </p:sp>
      <p:sp>
        <p:nvSpPr>
          <p:cNvPr id="27" name="Decisión detalle"/>
          <p:cNvSpPr txBox="1"/>
          <p:nvPr/>
        </p:nvSpPr>
        <p:spPr>
          <a:xfrm>
            <a:off x="822960" y="5641848"/>
            <a:ext cx="10515600" cy="365760"/>
          </a:xfrm>
          <a:prstGeom prst="rect">
            <a:avLst/>
          </a:prstGeom>
          <a:noFill/>
          <a:ln/>
        </p:spPr>
        <p:txBody>
          <a:bodyPr wrap="square" lIns="0" tIns="0" rIns="0" bIns="0" rtlCol="0" anchor="t"/>
          <a:lstStyle/>
          <a:p>
            <a:pPr indent="0" marL="0">
              <a:buNone/>
            </a:pPr>
            <a:r>
              <a:rPr lang="en-US" sz="1300" dirty="0">
                <a:solidFill>
                  <a:schemeClr val="accent5"/>
                </a:solidFill>
              </a:rPr>
              <a:t>Punto de equilibrio: 168 mil tarjetas (12% del SOM) · Precio mínimo del Escudo: COP 169/mes · Valor esperado de los 3 escenarios: COP 753 M</a:t>
            </a:r>
            <a:endParaRPr lang="en-US" sz="13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10515600" cy="1097280"/>
          </a:xfrm>
          <a:prstGeom prst="rect">
            <a:avLst/>
          </a:prstGeom>
          <a:noFill/>
          <a:ln/>
        </p:spPr>
        <p:txBody>
          <a:bodyPr wrap="square" lIns="0" tIns="0" rIns="0" bIns="0" rtlCol="0"/>
          <a:lstStyle/>
          <a:p>
            <a:pPr algn="l" indent="0" marL="0">
              <a:buNone/>
            </a:pPr>
            <a:r>
              <a:rPr lang="en-US" sz="4400" b="1" dirty="0">
                <a:solidFill>
                  <a:schemeClr val="bg1"/>
                </a:solidFill>
                <a:latin typeface="Cambria" pitchFamily="34" charset="0"/>
                <a:ea typeface="Cambria" pitchFamily="34" charset="-122"/>
                <a:cs typeface="Cambria" pitchFamily="34" charset="-120"/>
              </a:rPr>
              <a:t>Anexos</a:t>
            </a:r>
            <a:endParaRPr lang="en-US" sz="4400" dirty="0"/>
          </a:p>
        </p:txBody>
      </p:sp>
      <p:sp>
        <p:nvSpPr>
          <p:cNvPr id="3" name="Text 0"/>
          <p:cNvSpPr/>
          <p:nvPr>
            <p:ph idx="101" type="body" hasCustomPrompt="1"/>
          </p:nvPr>
        </p:nvSpPr>
        <p:spPr>
          <a:xfrm>
            <a:off x="731520" y="3383280"/>
            <a:ext cx="10515600" cy="2377440"/>
          </a:xfrm>
          <a:prstGeom prst="rect">
            <a:avLst/>
          </a:prstGeom>
          <a:noFill/>
          <a:ln/>
        </p:spPr>
        <p:txBody>
          <a:bodyPr wrap="square" lIns="0" tIns="0" rIns="0" bIns="0" rtlCol="0" anchor="t"/>
          <a:lstStyle/>
          <a:p>
            <a:pPr indent="0" marL="0">
              <a:spcAft>
                <a:spcPts val="600"/>
              </a:spcAft>
              <a:buNone/>
            </a:pPr>
            <a:r>
              <a:rPr lang="en-US" sz="1800" dirty="0">
                <a:solidFill>
                  <a:schemeClr val="accent5"/>
                </a:solidFill>
              </a:rPr>
              <a:t>A · Validación de los datos del caso</a:t>
            </a:r>
            <a:endParaRPr lang="en-US" sz="1800" dirty="0"/>
          </a:p>
          <a:p>
            <a:pPr indent="0" marL="0">
              <a:spcAft>
                <a:spcPts val="600"/>
              </a:spcAft>
              <a:buNone/>
            </a:pPr>
            <a:r>
              <a:rPr lang="en-US" sz="1800" dirty="0">
                <a:solidFill>
                  <a:schemeClr val="accent5"/>
                </a:solidFill>
              </a:rPr>
              <a:t>B · Evidencia y fuentes</a:t>
            </a:r>
            <a:endParaRPr lang="en-US" sz="1800" dirty="0"/>
          </a:p>
          <a:p>
            <a:pPr indent="0" marL="0">
              <a:spcAft>
                <a:spcPts val="600"/>
              </a:spcAft>
              <a:buNone/>
            </a:pPr>
            <a:r>
              <a:rPr lang="en-US" sz="1800" dirty="0">
                <a:solidFill>
                  <a:schemeClr val="accent5"/>
                </a:solidFill>
              </a:rPr>
              <a:t>C · Mercado y priorización de alternativas</a:t>
            </a:r>
            <a:endParaRPr lang="en-US" sz="1800" dirty="0"/>
          </a:p>
          <a:p>
            <a:pPr indent="0" marL="0">
              <a:spcAft>
                <a:spcPts val="600"/>
              </a:spcAft>
              <a:buNone/>
            </a:pPr>
            <a:r>
              <a:rPr lang="en-US" sz="1800" dirty="0">
                <a:solidFill>
                  <a:schemeClr val="accent5"/>
                </a:solidFill>
              </a:rPr>
              <a:t>D · Roles y arquitectura de referencia</a:t>
            </a:r>
            <a:endParaRPr lang="en-US" sz="1800" dirty="0"/>
          </a:p>
          <a:p>
            <a:pPr indent="0" marL="0">
              <a:spcAft>
                <a:spcPts val="600"/>
              </a:spcAft>
              <a:buNone/>
            </a:pPr>
            <a:r>
              <a:rPr lang="en-US" sz="1800" dirty="0">
                <a:solidFill>
                  <a:schemeClr val="accent5"/>
                </a:solidFill>
              </a:rPr>
              <a:t>E · Hipótesis, kill criteria y riesgos</a:t>
            </a:r>
            <a:endParaRPr lang="en-US" sz="1800" dirty="0"/>
          </a:p>
          <a:p>
            <a:pPr indent="0" marL="0">
              <a:spcAft>
                <a:spcPts val="600"/>
              </a:spcAft>
              <a:buNone/>
            </a:pPr>
            <a:r>
              <a:rPr lang="en-US" sz="1800" dirty="0">
                <a:solidFill>
                  <a:schemeClr val="accent5"/>
                </a:solidFill>
              </a:rPr>
              <a:t>F · Business case: supuestos y resultados</a:t>
            </a:r>
            <a:endParaRPr lang="en-US" sz="1800" dirty="0"/>
          </a:p>
          <a:p>
            <a:pPr indent="0" marL="0">
              <a:spcAft>
                <a:spcPts val="600"/>
              </a:spcAft>
              <a:buNone/>
            </a:pPr>
            <a:r>
              <a:rPr lang="en-US" sz="1800" dirty="0">
                <a:solidFill>
                  <a:schemeClr val="accent5"/>
                </a:solidFill>
              </a:rPr>
              <a:t>G · Escenarios y sensibilidad</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64240" cy="292608"/>
          </a:xfrm>
          <a:prstGeom prst="rect">
            <a:avLst/>
          </a:prstGeom>
          <a:noFill/>
          <a:ln/>
        </p:spPr>
        <p:txBody>
          <a:bodyPr wrap="square" lIns="0" tIns="0" rIns="0" bIns="0" rtlCol="0" anchor="t"/>
          <a:lstStyle/>
          <a:p>
            <a:pPr indent="0" marL="0">
              <a:buNone/>
            </a:pPr>
            <a:r>
              <a:rPr lang="en-US" sz="1200" b="1" spc="200" kern="0" dirty="0">
                <a:solidFill>
                  <a:schemeClr val="accent2"/>
                </a:solidFill>
              </a:rPr>
              <a:t>ANEXO A</a:t>
            </a:r>
            <a:endParaRPr lang="en-US" sz="1200" dirty="0"/>
          </a:p>
        </p:txBody>
      </p:sp>
      <p:sp>
        <p:nvSpPr>
          <p:cNvPr id="3" name="Text 0"/>
          <p:cNvSpPr/>
          <p:nvPr>
            <p:ph idx="101" type="title" hasCustomPrompt="1"/>
          </p:nvPr>
        </p:nvSpPr>
        <p:spPr>
          <a:xfrm>
            <a:off x="548640" y="640080"/>
            <a:ext cx="11064240" cy="685800"/>
          </a:xfrm>
          <a:prstGeom prst="rect">
            <a:avLst/>
          </a:prstGeom>
          <a:noFill/>
          <a:ln/>
        </p:spPr>
        <p:txBody>
          <a:bodyPr wrap="square" lIns="0" tIns="0" rIns="0" bIns="0" rtlCol="0" anchor="t"/>
          <a:lstStyle/>
          <a:p>
            <a:pPr algn="l" indent="0" marL="0">
              <a:buNone/>
            </a:pPr>
            <a:r>
              <a:rPr lang="en-US" sz="3000" b="1" dirty="0">
                <a:solidFill>
                  <a:schemeClr val="tx2"/>
                </a:solidFill>
                <a:latin typeface="Cambria" pitchFamily="34" charset="0"/>
                <a:ea typeface="Cambria" pitchFamily="34" charset="-122"/>
                <a:cs typeface="Cambria" pitchFamily="34" charset="-120"/>
              </a:rPr>
              <a:t>Validación de los datos del caso</a:t>
            </a:r>
            <a:endParaRPr lang="en-US" sz="3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64240" cy="914400"/>
        </p:xfrm>
        <a:graphic>
          <a:graphicData uri="http://schemas.openxmlformats.org/drawingml/2006/table">
            <a:tbl>
              <a:tblPr/>
              <a:tblGrid>
                <a:gridCol w="3657600"/>
                <a:gridCol w="2011680"/>
                <a:gridCol w="5394960"/>
              </a:tblGrid>
              <a:tr h="475488">
                <a:tc>
                  <a:txBody>
                    <a:bodyPr/>
                    <a:lstStyle/>
                    <a:p>
                      <a:pPr indent="0" marL="0">
                        <a:buNone/>
                      </a:pPr>
                      <a:r>
                        <a:rPr lang="en-US" sz="1200" b="1" dirty="0">
                          <a:solidFill>
                            <a:schemeClr val="bg1"/>
                          </a:solidFill>
                        </a:rPr>
                        <a:t>Enunciado del caso</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Clasificación</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Qué encontramos y cómo lo tratamos</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solidFill>
                      <a:schemeClr val="tx2"/>
                    </a:solidFill>
                  </a:tcPr>
                </a:tc>
              </a:tr>
              <a:tr h="475488">
                <a:tc>
                  <a:txBody>
                    <a:bodyPr/>
                    <a:lstStyle/>
                    <a:p>
                      <a:pPr indent="0" marL="0">
                        <a:buNone/>
                      </a:pPr>
                      <a:r>
                        <a:rPr lang="en-US" sz="1200" dirty="0">
                          <a:solidFill>
                            <a:schemeClr val="tx1"/>
                          </a:solidFill>
                        </a:rPr>
                        <a:t>68% de las personas 60+ usa banca móvil o billeteras</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indent="0" marL="0">
                        <a:buNone/>
                      </a:pPr>
                      <a:r>
                        <a:rPr lang="en-US" sz="1200" b="1" dirty="0">
                          <a:solidFill>
                            <a:schemeClr val="tx1"/>
                          </a:solidFill>
                        </a:rPr>
                        <a:t>Contradicho</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solidFill>
                      <a:srgbClr val="F6DED6"/>
                    </a:solidFill>
                  </a:tcPr>
                </a:tc>
                <a:tc>
                  <a:txBody>
                    <a:bodyPr/>
                    <a:lstStyle/>
                    <a:p>
                      <a:pPr indent="0" marL="0">
                        <a:buNone/>
                      </a:pPr>
                      <a:r>
                        <a:rPr lang="en-US" sz="1200" dirty="0">
                          <a:solidFill>
                            <a:schemeClr val="tx1"/>
                          </a:solidFill>
                        </a:rPr>
                        <a:t>DANE: 36,4% de los 65+ con acceso a internet y 18,1% con uso regular. Descartado: por eso la solución es asistida.</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r>
              <a:tr h="475488">
                <a:tc>
                  <a:txBody>
                    <a:bodyPr/>
                    <a:lstStyle/>
                    <a:p>
                      <a:pPr indent="0" marL="0">
                        <a:buNone/>
                      </a:pPr>
                      <a:r>
                        <a:rPr lang="en-US" sz="1200" dirty="0">
                          <a:solidFill>
                            <a:schemeClr val="tx1"/>
                          </a:solidFill>
                        </a:rPr>
                        <a:t>166 M de personas 50+ en ALC (2024) y ~280 M en 2050</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indent="0" marL="0">
                        <a:buNone/>
                      </a:pPr>
                      <a:r>
                        <a:rPr lang="en-US" sz="1200" b="1" dirty="0">
                          <a:solidFill>
                            <a:schemeClr val="tx1"/>
                          </a:solidFill>
                        </a:rPr>
                        <a:t>Requiere contrastación</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solidFill>
                      <a:srgbClr val="FBEBD2"/>
                    </a:solidFill>
                  </a:tcPr>
                </a:tc>
                <a:tc>
                  <a:txBody>
                    <a:bodyPr/>
                    <a:lstStyle/>
                    <a:p>
                      <a:pPr indent="0" marL="0">
                        <a:buNone/>
                      </a:pPr>
                      <a:r>
                        <a:rPr lang="en-US" sz="1200" dirty="0">
                          <a:solidFill>
                            <a:schemeClr val="tx1"/>
                          </a:solidFill>
                        </a:rPr>
                        <a:t>2050 coincide con el Grupo Banco Mundial (&gt;280 M). 2024 sin fuente primaria. Solo contexto.</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r>
              <a:tr h="475488">
                <a:tc>
                  <a:txBody>
                    <a:bodyPr/>
                    <a:lstStyle/>
                    <a:p>
                      <a:pPr indent="0" marL="0">
                        <a:buNone/>
                      </a:pPr>
                      <a:r>
                        <a:rPr lang="en-US" sz="1200" dirty="0">
                          <a:solidFill>
                            <a:schemeClr val="tx1"/>
                          </a:solidFill>
                        </a:rPr>
                        <a:t>Colombia y Brasil en envejecimiento avanzado (UN WPP)</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indent="0" marL="0">
                        <a:buNone/>
                      </a:pPr>
                      <a:r>
                        <a:rPr lang="en-US" sz="1200" b="1" dirty="0">
                          <a:solidFill>
                            <a:schemeClr val="tx1"/>
                          </a:solidFill>
                        </a:rPr>
                        <a:t>Parcialmente incorrecto</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solidFill>
                      <a:srgbClr val="FBEBD2"/>
                    </a:solidFill>
                  </a:tcPr>
                </a:tc>
                <a:tc>
                  <a:txBody>
                    <a:bodyPr/>
                    <a:lstStyle/>
                    <a:p>
                      <a:pPr indent="0" marL="0">
                        <a:buNone/>
                      </a:pPr>
                      <a:r>
                        <a:rPr lang="en-US" sz="1200" dirty="0">
                          <a:solidFill>
                            <a:schemeClr val="tx1"/>
                          </a:solidFill>
                        </a:rPr>
                        <a:t>La clasificación es de CEPAL y ubica a Colombia en envejecimiento moderado pero acelerado.</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r>
              <a:tr h="475488">
                <a:tc>
                  <a:txBody>
                    <a:bodyPr/>
                    <a:lstStyle/>
                    <a:p>
                      <a:pPr indent="0" marL="0">
                        <a:buNone/>
                      </a:pPr>
                      <a:r>
                        <a:rPr lang="en-US" sz="1200" dirty="0">
                          <a:solidFill>
                            <a:schemeClr val="tx1"/>
                          </a:solidFill>
                        </a:rPr>
                        <a:t>AARP: 50+ = 34% del PIB mundial en 2022</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indent="0" marL="0">
                        <a:buNone/>
                      </a:pPr>
                      <a:r>
                        <a:rPr lang="en-US" sz="1200" b="1" dirty="0">
                          <a:solidFill>
                            <a:schemeClr val="tx1"/>
                          </a:solidFill>
                        </a:rPr>
                        <a:t>Error de fecha</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solidFill>
                      <a:srgbClr val="FBEBD2"/>
                    </a:solidFill>
                  </a:tcPr>
                </a:tc>
                <a:tc>
                  <a:txBody>
                    <a:bodyPr/>
                    <a:lstStyle/>
                    <a:p>
                      <a:pPr indent="0" marL="0">
                        <a:buNone/>
                      </a:pPr>
                      <a:r>
                        <a:rPr lang="en-US" sz="1200" dirty="0">
                          <a:solidFill>
                            <a:schemeClr val="tx1"/>
                          </a:solidFill>
                        </a:rPr>
                        <a:t>Las cifras son de 2020 (informe de nov-2022). Dato global, solo contexto.</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r>
              <a:tr h="475488">
                <a:tc>
                  <a:txBody>
                    <a:bodyPr/>
                    <a:lstStyle/>
                    <a:p>
                      <a:pPr indent="0" marL="0">
                        <a:buNone/>
                      </a:pPr>
                      <a:r>
                        <a:rPr lang="en-US" sz="1200" dirty="0">
                          <a:solidFill>
                            <a:schemeClr val="tx1"/>
                          </a:solidFill>
                        </a:rPr>
                        <a:t>Las personas mayores pagan mejor sus créditos</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indent="0" marL="0">
                        <a:buNone/>
                      </a:pPr>
                      <a:r>
                        <a:rPr lang="en-US" sz="1200" b="1" dirty="0">
                          <a:solidFill>
                            <a:schemeClr val="tx1"/>
                          </a:solidFill>
                        </a:rPr>
                        <a:t>No verificado</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solidFill>
                      <a:srgbClr val="FBEBD2"/>
                    </a:solidFill>
                  </a:tcPr>
                </a:tc>
                <a:tc>
                  <a:txBody>
                    <a:bodyPr/>
                    <a:lstStyle/>
                    <a:p>
                      <a:pPr indent="0" marL="0">
                        <a:buNone/>
                      </a:pPr>
                      <a:r>
                        <a:rPr lang="en-US" sz="1200" dirty="0">
                          <a:solidFill>
                            <a:schemeClr val="tx1"/>
                          </a:solidFill>
                        </a:rPr>
                        <a:t>Sin fuente primaria. No se usa: el crédito no es nuestro rol.</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r>
              <a:tr h="475488">
                <a:tc>
                  <a:txBody>
                    <a:bodyPr/>
                    <a:lstStyle/>
                    <a:p>
                      <a:pPr indent="0" marL="0">
                        <a:buNone/>
                      </a:pPr>
                      <a:r>
                        <a:rPr lang="en-US" sz="1200" dirty="0">
                          <a:solidFill>
                            <a:schemeClr val="tx1"/>
                          </a:solidFill>
                        </a:rPr>
                        <a:t>52% sin ahorros suficientes para la vejez (WEF)</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indent="0" marL="0">
                        <a:buNone/>
                      </a:pPr>
                      <a:r>
                        <a:rPr lang="en-US" sz="1200" b="1" dirty="0">
                          <a:solidFill>
                            <a:schemeClr val="tx1"/>
                          </a:solidFill>
                        </a:rPr>
                        <a:t>No verificado</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solidFill>
                      <a:srgbClr val="FBEBD2"/>
                    </a:solidFill>
                  </a:tcPr>
                </a:tc>
                <a:tc>
                  <a:txBody>
                    <a:bodyPr/>
                    <a:lstStyle/>
                    <a:p>
                      <a:pPr indent="0" marL="0">
                        <a:buNone/>
                      </a:pPr>
                      <a:r>
                        <a:rPr lang="en-US" sz="1200" dirty="0">
                          <a:solidFill>
                            <a:schemeClr val="tx1"/>
                          </a:solidFill>
                        </a:rPr>
                        <a:t>Reemplazado por CEPAL 2023: 43,4% de los 65+ sin pensión suficiente.</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r>
              <a:tr h="475488">
                <a:tc>
                  <a:txBody>
                    <a:bodyPr/>
                    <a:lstStyle/>
                    <a:p>
                      <a:pPr indent="0" marL="0">
                        <a:buNone/>
                      </a:pPr>
                      <a:r>
                        <a:rPr lang="en-US" sz="1200" dirty="0">
                          <a:solidFill>
                            <a:schemeClr val="tx1"/>
                          </a:solidFill>
                        </a:rPr>
                        <a:t>Persona mayor = 60+ (Ley 1251 de 2008); 7,1 M en 2021</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indent="0" marL="0">
                        <a:buNone/>
                      </a:pPr>
                      <a:r>
                        <a:rPr lang="en-US" sz="1200" b="1" dirty="0">
                          <a:solidFill>
                            <a:schemeClr val="tx1"/>
                          </a:solidFill>
                        </a:rPr>
                        <a:t>Verificado</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solidFill>
                      <a:srgbClr val="DDF0EB"/>
                    </a:solidFill>
                  </a:tcPr>
                </a:tc>
                <a:tc>
                  <a:txBody>
                    <a:bodyPr/>
                    <a:lstStyle/>
                    <a:p>
                      <a:pPr indent="0" marL="0">
                        <a:buNone/>
                      </a:pPr>
                      <a:r>
                        <a:rPr lang="en-US" sz="1200" dirty="0">
                          <a:solidFill>
                            <a:schemeClr val="tx1"/>
                          </a:solidFill>
                        </a:rPr>
                        <a:t>DANE, nota estadística 2021. Base de la segmentación y del TAM.</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r>
            </a:tbl>
          </a:graphicData>
        </a:graphic>
      </p:graphicFrame>
      <p:sp>
        <p:nvSpPr>
          <p:cNvPr id="6" name="Nota método"/>
          <p:cNvSpPr txBox="1"/>
          <p:nvPr/>
        </p:nvSpPr>
        <p:spPr>
          <a:xfrm>
            <a:off x="548640" y="5806440"/>
            <a:ext cx="11064240" cy="457200"/>
          </a:xfrm>
          <a:prstGeom prst="rect">
            <a:avLst/>
          </a:prstGeom>
          <a:noFill/>
          <a:ln/>
        </p:spPr>
        <p:txBody>
          <a:bodyPr wrap="square" lIns="0" tIns="0" rIns="0" bIns="0" rtlCol="0" anchor="t"/>
          <a:lstStyle/>
          <a:p>
            <a:pPr indent="0" marL="0">
              <a:buNone/>
            </a:pPr>
            <a:r>
              <a:rPr lang="en-US" sz="1200" i="1" dirty="0">
                <a:solidFill>
                  <a:schemeClr val="tx1"/>
                </a:solidFill>
              </a:rPr>
              <a:t>Método: cada dato se clasificó (hecho, dato a contrastar, supuesto, hipótesis o interpretación), se buscó su fuente primaria y se decidió si entraba al business case.</a:t>
            </a:r>
            <a:endParaRPr lang="en-US" sz="12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64240" cy="292608"/>
          </a:xfrm>
          <a:prstGeom prst="rect">
            <a:avLst/>
          </a:prstGeom>
          <a:noFill/>
          <a:ln/>
        </p:spPr>
        <p:txBody>
          <a:bodyPr wrap="square" lIns="0" tIns="0" rIns="0" bIns="0" rtlCol="0" anchor="t"/>
          <a:lstStyle/>
          <a:p>
            <a:pPr indent="0" marL="0">
              <a:buNone/>
            </a:pPr>
            <a:r>
              <a:rPr lang="en-US" sz="1200" b="1" spc="200" kern="0" dirty="0">
                <a:solidFill>
                  <a:schemeClr val="accent2"/>
                </a:solidFill>
              </a:rPr>
              <a:t>ANEXO B</a:t>
            </a:r>
            <a:endParaRPr lang="en-US" sz="1200" dirty="0"/>
          </a:p>
        </p:txBody>
      </p:sp>
      <p:sp>
        <p:nvSpPr>
          <p:cNvPr id="3" name="Text 0"/>
          <p:cNvSpPr/>
          <p:nvPr>
            <p:ph idx="101" type="title" hasCustomPrompt="1"/>
          </p:nvPr>
        </p:nvSpPr>
        <p:spPr>
          <a:xfrm>
            <a:off x="548640" y="640080"/>
            <a:ext cx="11064240" cy="685800"/>
          </a:xfrm>
          <a:prstGeom prst="rect">
            <a:avLst/>
          </a:prstGeom>
          <a:noFill/>
          <a:ln/>
        </p:spPr>
        <p:txBody>
          <a:bodyPr wrap="square" lIns="0" tIns="0" rIns="0" bIns="0" rtlCol="0" anchor="t"/>
          <a:lstStyle/>
          <a:p>
            <a:pPr algn="l" indent="0" marL="0">
              <a:buNone/>
            </a:pPr>
            <a:r>
              <a:rPr lang="en-US" sz="3000" b="1" dirty="0">
                <a:solidFill>
                  <a:schemeClr val="tx2"/>
                </a:solidFill>
                <a:latin typeface="Cambria" pitchFamily="34" charset="0"/>
                <a:ea typeface="Cambria" pitchFamily="34" charset="-122"/>
                <a:cs typeface="Cambria" pitchFamily="34" charset="-120"/>
              </a:rPr>
              <a:t>Evidencia y fuentes (consultadas el 18-oct-2026)</a:t>
            </a:r>
            <a:endParaRPr lang="en-US" sz="3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64240" cy="914400"/>
        </p:xfrm>
        <a:graphic>
          <a:graphicData uri="http://schemas.openxmlformats.org/drawingml/2006/table">
            <a:tbl>
              <a:tblPr/>
              <a:tblGrid>
                <a:gridCol w="6217920"/>
                <a:gridCol w="4846320"/>
              </a:tblGrid>
              <a:tr h="347472">
                <a:tc>
                  <a:txBody>
                    <a:bodyPr/>
                    <a:lstStyle/>
                    <a:p>
                      <a:pPr indent="0" marL="0">
                        <a:buNone/>
                      </a:pPr>
                      <a:r>
                        <a:rPr lang="en-US" sz="1200" b="1" dirty="0">
                          <a:solidFill>
                            <a:schemeClr val="bg1"/>
                          </a:solidFill>
                        </a:rPr>
                        <a:t>Dato</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Fuente</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solidFill>
                      <a:schemeClr val="tx2"/>
                    </a:solidFill>
                  </a:tcPr>
                </a:tc>
              </a:tr>
              <a:tr h="347472">
                <a:tc>
                  <a:txBody>
                    <a:bodyPr/>
                    <a:lstStyle/>
                    <a:p>
                      <a:pPr indent="0" marL="0">
                        <a:buNone/>
                      </a:pPr>
                      <a:r>
                        <a:rPr lang="en-US" sz="1200" dirty="0">
                          <a:solidFill>
                            <a:schemeClr val="tx1"/>
                          </a:solidFill>
                        </a:rPr>
                        <a:t>7,1 M de personas 60+ (13,9%) en 2021; ≈15,5% en 2024</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indent="0" marL="0">
                        <a:buNone/>
                      </a:pPr>
                      <a:r>
                        <a:rPr lang="en-US" sz="1200" dirty="0">
                          <a:solidFill>
                            <a:schemeClr val="tx1"/>
                          </a:solidFill>
                        </a:rPr>
                        <a:t>DANE, nota estadística sobre personas mayores</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r>
              <a:tr h="347472">
                <a:tc>
                  <a:txBody>
                    <a:bodyPr/>
                    <a:lstStyle/>
                    <a:p>
                      <a:pPr indent="0" marL="0">
                        <a:buNone/>
                      </a:pPr>
                      <a:r>
                        <a:rPr lang="en-US" sz="1200" dirty="0">
                          <a:solidFill>
                            <a:schemeClr val="tx1"/>
                          </a:solidFill>
                        </a:rPr>
                        <a:t>36,4% de los 65+ con acceso a internet; 18,1% con uso regular</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indent="0" marL="0">
                        <a:buNone/>
                      </a:pPr>
                      <a:r>
                        <a:rPr lang="en-US" sz="1200" dirty="0">
                          <a:solidFill>
                            <a:schemeClr val="tx1"/>
                          </a:solidFill>
                        </a:rPr>
                        <a:t>DANE 2021, citado por la Alcaldía de Bogotá</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r>
              <a:tr h="347472">
                <a:tc>
                  <a:txBody>
                    <a:bodyPr/>
                    <a:lstStyle/>
                    <a:p>
                      <a:pPr indent="0" marL="0">
                        <a:buNone/>
                      </a:pPr>
                      <a:r>
                        <a:rPr lang="en-US" sz="1200" dirty="0">
                          <a:solidFill>
                            <a:schemeClr val="tx1"/>
                          </a:solidFill>
                        </a:rPr>
                        <a:t>Los 65+ tienen el menor uso de depósitos</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indent="0" marL="0">
                        <a:buNone/>
                      </a:pPr>
                      <a:r>
                        <a:rPr lang="en-US" sz="1200" dirty="0">
                          <a:solidFill>
                            <a:schemeClr val="tx1"/>
                          </a:solidFill>
                        </a:rPr>
                        <a:t>Banca de las Oportunidades y SFC, RIF 2024</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r>
              <a:tr h="347472">
                <a:tc>
                  <a:txBody>
                    <a:bodyPr/>
                    <a:lstStyle/>
                    <a:p>
                      <a:pPr indent="0" marL="0">
                        <a:buNone/>
                      </a:pPr>
                      <a:r>
                        <a:rPr lang="en-US" sz="1200" dirty="0">
                          <a:solidFill>
                            <a:schemeClr val="tx1"/>
                          </a:solidFill>
                        </a:rPr>
                        <a:t>2.111.953 pensionados</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indent="0" marL="0">
                        <a:buNone/>
                      </a:pPr>
                      <a:r>
                        <a:rPr lang="en-US" sz="1200" dirty="0">
                          <a:solidFill>
                            <a:schemeClr val="tx1"/>
                          </a:solidFill>
                        </a:rPr>
                        <a:t>Superintendencia Financiera, 2024</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r>
              <a:tr h="347472">
                <a:tc>
                  <a:txBody>
                    <a:bodyPr/>
                    <a:lstStyle/>
                    <a:p>
                      <a:pPr indent="0" marL="0">
                        <a:buNone/>
                      </a:pPr>
                      <a:r>
                        <a:rPr lang="en-US" sz="1200" dirty="0">
                          <a:solidFill>
                            <a:schemeClr val="tx1"/>
                          </a:solidFill>
                        </a:rPr>
                        <a:t>1,6 M en Colombia Mayor; meta de 3,1 M en el pilar solidario</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indent="0" marL="0">
                        <a:buNone/>
                      </a:pPr>
                      <a:r>
                        <a:rPr lang="en-US" sz="1200" dirty="0">
                          <a:solidFill>
                            <a:schemeClr val="tx1"/>
                          </a:solidFill>
                        </a:rPr>
                        <a:t>Prosperidad Social, 2025</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r>
              <a:tr h="347472">
                <a:tc>
                  <a:txBody>
                    <a:bodyPr/>
                    <a:lstStyle/>
                    <a:p>
                      <a:pPr indent="0" marL="0">
                        <a:buNone/>
                      </a:pPr>
                      <a:r>
                        <a:rPr lang="en-US" sz="1200" dirty="0">
                          <a:solidFill>
                            <a:schemeClr val="tx1"/>
                          </a:solidFill>
                        </a:rPr>
                        <a:t>El efectivo es ≈78% de las transacciones</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indent="0" marL="0">
                        <a:buNone/>
                      </a:pPr>
                      <a:r>
                        <a:rPr lang="en-US" sz="1200" dirty="0">
                          <a:solidFill>
                            <a:schemeClr val="tx1"/>
                          </a:solidFill>
                        </a:rPr>
                        <a:t>Banco de la República, encuesta de instrumentos de pago</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r>
              <a:tr h="347472">
                <a:tc>
                  <a:txBody>
                    <a:bodyPr/>
                    <a:lstStyle/>
                    <a:p>
                      <a:pPr indent="0" marL="0">
                        <a:buNone/>
                      </a:pPr>
                      <a:r>
                        <a:rPr lang="en-US" sz="1200" dirty="0">
                          <a:solidFill>
                            <a:schemeClr val="tx1"/>
                          </a:solidFill>
                        </a:rPr>
                        <a:t>50,2 M de tarjetas débito y 16,7 M de crédito</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indent="0" marL="0">
                        <a:buNone/>
                      </a:pPr>
                      <a:r>
                        <a:rPr lang="en-US" sz="1200" dirty="0">
                          <a:solidFill>
                            <a:schemeClr val="tx1"/>
                          </a:solidFill>
                        </a:rPr>
                        <a:t>SFC, 2025</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r>
              <a:tr h="347472">
                <a:tc>
                  <a:txBody>
                    <a:bodyPr/>
                    <a:lstStyle/>
                    <a:p>
                      <a:pPr indent="0" marL="0">
                        <a:buNone/>
                      </a:pPr>
                      <a:r>
                        <a:rPr lang="en-US" sz="1200" dirty="0">
                          <a:solidFill>
                            <a:schemeClr val="tx1"/>
                          </a:solidFill>
                        </a:rPr>
                        <a:t>Credibanco: COP 130 billones procesados (2024); integrado a Bre-B</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indent="0" marL="0">
                        <a:buNone/>
                      </a:pPr>
                      <a:r>
                        <a:rPr lang="en-US" sz="1200" dirty="0">
                          <a:solidFill>
                            <a:schemeClr val="tx1"/>
                          </a:solidFill>
                        </a:rPr>
                        <a:t>Portafolio; Valora Analitik</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r>
              <a:tr h="347472">
                <a:tc>
                  <a:txBody>
                    <a:bodyPr/>
                    <a:lstStyle/>
                    <a:p>
                      <a:pPr indent="0" marL="0">
                        <a:buNone/>
                      </a:pPr>
                      <a:r>
                        <a:rPr lang="en-US" sz="1200" dirty="0">
                          <a:solidFill>
                            <a:schemeClr val="tx1"/>
                          </a:solidFill>
                        </a:rPr>
                        <a:t>Bre-B: más de 500 M de transacciones en 5 meses</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indent="0" marL="0">
                        <a:buNone/>
                      </a:pPr>
                      <a:r>
                        <a:rPr lang="en-US" sz="1200" dirty="0">
                          <a:solidFill>
                            <a:schemeClr val="tx1"/>
                          </a:solidFill>
                        </a:rPr>
                        <a:t>El Tiempo (ACI Worldwide)</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r>
              <a:tr h="347472">
                <a:tc>
                  <a:txBody>
                    <a:bodyPr/>
                    <a:lstStyle/>
                    <a:p>
                      <a:pPr indent="0" marL="0">
                        <a:buNone/>
                      </a:pPr>
                      <a:r>
                        <a:rPr lang="en-US" sz="1200" dirty="0">
                          <a:solidFill>
                            <a:schemeClr val="tx1"/>
                          </a:solidFill>
                        </a:rPr>
                        <a:t>Consumo de la población 50+ ≈ COP 121 billones al año</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indent="0" marL="0">
                        <a:buNone/>
                      </a:pPr>
                      <a:r>
                        <a:rPr lang="en-US" sz="1200" dirty="0">
                          <a:solidFill>
                            <a:schemeClr val="tx1"/>
                          </a:solidFill>
                        </a:rPr>
                        <a:t>La República y Portafolio, 2023</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r>
              <a:tr h="347472">
                <a:tc>
                  <a:txBody>
                    <a:bodyPr/>
                    <a:lstStyle/>
                    <a:p>
                      <a:pPr indent="0" marL="0">
                        <a:buNone/>
                      </a:pPr>
                      <a:r>
                        <a:rPr lang="en-US" sz="1200" dirty="0">
                          <a:solidFill>
                            <a:schemeClr val="tx1"/>
                          </a:solidFill>
                        </a:rPr>
                        <a:t>Las llamadas fraudulentas afectan sobre todo a adultos mayores</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indent="0" marL="0">
                        <a:buNone/>
                      </a:pPr>
                      <a:r>
                        <a:rPr lang="en-US" sz="1200" dirty="0">
                          <a:solidFill>
                            <a:schemeClr val="tx1"/>
                          </a:solidFill>
                        </a:rPr>
                        <a:t>Banco de Bogotá, citado por Portafolio</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r>
            </a:tbl>
          </a:graphicData>
        </a:graphic>
      </p:graphicFrame>
      <p:sp>
        <p:nvSpPr>
          <p:cNvPr id="6" name="Nota por validar"/>
          <p:cNvSpPr txBox="1"/>
          <p:nvPr/>
        </p:nvSpPr>
        <p:spPr>
          <a:xfrm>
            <a:off x="548640" y="5806440"/>
            <a:ext cx="11064240" cy="457200"/>
          </a:xfrm>
          <a:prstGeom prst="rect">
            <a:avLst/>
          </a:prstGeom>
          <a:noFill/>
          <a:ln/>
        </p:spPr>
        <p:txBody>
          <a:bodyPr wrap="square" lIns="0" tIns="0" rIns="0" bIns="0" rtlCol="0" anchor="t"/>
          <a:lstStyle/>
          <a:p>
            <a:pPr indent="0" marL="0">
              <a:buNone/>
            </a:pPr>
            <a:r>
              <a:rPr lang="en-US" sz="1200" b="1" dirty="0">
                <a:solidFill>
                  <a:schemeClr val="accent6"/>
                </a:solidFill>
              </a:rPr>
              <a:t>Por validar en discovery: </a:t>
            </a:r>
            <a:pPr indent="0" marL="0">
              <a:buNone/>
            </a:pPr>
            <a:r>
              <a:rPr lang="en-US" sz="1200" dirty="0">
                <a:solidFill>
                  <a:schemeClr val="tx1"/>
                </a:solidFill>
              </a:rPr>
              <a:t>participación de Credibanco en el procesamiento de emisores, fraude por rango de edad y disposición a pagar de los bancos.</a:t>
            </a:r>
            <a:endParaRPr lang="en-US" sz="12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64240" cy="292608"/>
          </a:xfrm>
          <a:prstGeom prst="rect">
            <a:avLst/>
          </a:prstGeom>
          <a:noFill/>
          <a:ln/>
        </p:spPr>
        <p:txBody>
          <a:bodyPr wrap="square" lIns="0" tIns="0" rIns="0" bIns="0" rtlCol="0" anchor="t"/>
          <a:lstStyle/>
          <a:p>
            <a:pPr indent="0" marL="0">
              <a:buNone/>
            </a:pPr>
            <a:r>
              <a:rPr lang="en-US" sz="1200" b="1" spc="200" kern="0" dirty="0">
                <a:solidFill>
                  <a:schemeClr val="accent2"/>
                </a:solidFill>
              </a:rPr>
              <a:t>ANEXO C</a:t>
            </a:r>
            <a:endParaRPr lang="en-US" sz="1200" dirty="0"/>
          </a:p>
        </p:txBody>
      </p:sp>
      <p:sp>
        <p:nvSpPr>
          <p:cNvPr id="3" name="Text 0"/>
          <p:cNvSpPr/>
          <p:nvPr>
            <p:ph idx="101" type="title" hasCustomPrompt="1"/>
          </p:nvPr>
        </p:nvSpPr>
        <p:spPr>
          <a:xfrm>
            <a:off x="548640" y="640080"/>
            <a:ext cx="11064240" cy="685800"/>
          </a:xfrm>
          <a:prstGeom prst="rect">
            <a:avLst/>
          </a:prstGeom>
          <a:noFill/>
          <a:ln/>
        </p:spPr>
        <p:txBody>
          <a:bodyPr wrap="square" lIns="0" tIns="0" rIns="0" bIns="0" rtlCol="0" anchor="t"/>
          <a:lstStyle/>
          <a:p>
            <a:pPr algn="l" indent="0" marL="0">
              <a:buNone/>
            </a:pPr>
            <a:r>
              <a:rPr lang="en-US" sz="3000" b="1" dirty="0">
                <a:solidFill>
                  <a:schemeClr val="tx2"/>
                </a:solidFill>
                <a:latin typeface="Cambria" pitchFamily="34" charset="0"/>
                <a:ea typeface="Cambria" pitchFamily="34" charset="-122"/>
                <a:cs typeface="Cambria" pitchFamily="34" charset="-120"/>
              </a:rPr>
              <a:t>Mercado y priorización de alternativas</a:t>
            </a:r>
            <a:endParaRPr lang="en-US" sz="3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64240" cy="914400"/>
        </p:xfrm>
        <a:graphic>
          <a:graphicData uri="http://schemas.openxmlformats.org/drawingml/2006/table">
            <a:tbl>
              <a:tblPr/>
              <a:tblGrid>
                <a:gridCol w="1097280"/>
                <a:gridCol w="4114800"/>
                <a:gridCol w="3108960"/>
                <a:gridCol w="2743200"/>
              </a:tblGrid>
              <a:tr h="329184">
                <a:tc>
                  <a:txBody>
                    <a:bodyPr/>
                    <a:lstStyle/>
                    <a:p>
                      <a:pPr indent="0" marL="0">
                        <a:buNone/>
                      </a:pPr>
                      <a:r>
                        <a:rPr lang="en-US" sz="1200" b="1" dirty="0">
                          <a:solidFill>
                            <a:schemeClr val="bg1"/>
                          </a:solidFill>
                        </a:rPr>
                        <a:t>Nivel</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Definición</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Conservador / Base / Optimista</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Tipo</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solidFill>
                      <a:schemeClr val="tx2"/>
                    </a:solidFill>
                  </a:tcPr>
                </a:tc>
              </a:tr>
              <a:tr h="329184">
                <a:tc>
                  <a:txBody>
                    <a:bodyPr/>
                    <a:lstStyle/>
                    <a:p>
                      <a:pPr indent="0" marL="0">
                        <a:buNone/>
                      </a:pPr>
                      <a:r>
                        <a:rPr lang="en-US" sz="1200" dirty="0">
                          <a:solidFill>
                            <a:schemeClr val="tx1"/>
                          </a:solidFill>
                        </a:rPr>
                        <a:t>TAM</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indent="0" marL="0">
                        <a:buNone/>
                      </a:pPr>
                      <a:r>
                        <a:rPr lang="en-US" sz="1200" dirty="0">
                          <a:solidFill>
                            <a:schemeClr val="tx1"/>
                          </a:solidFill>
                        </a:rPr>
                        <a:t>Personas de 60+ en Colombia (2025)</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indent="0" marL="0">
                        <a:buNone/>
                      </a:pPr>
                      <a:r>
                        <a:rPr lang="en-US" sz="1200" dirty="0">
                          <a:solidFill>
                            <a:schemeClr val="tx1"/>
                          </a:solidFill>
                        </a:rPr>
                        <a:t>8,0 M</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indent="0" marL="0">
                        <a:buNone/>
                      </a:pPr>
                      <a:r>
                        <a:rPr lang="en-US" sz="1200" dirty="0">
                          <a:solidFill>
                            <a:schemeClr val="tx1"/>
                          </a:solidFill>
                        </a:rPr>
                        <a:t>Dato (DANE)</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r>
              <a:tr h="329184">
                <a:tc>
                  <a:txBody>
                    <a:bodyPr/>
                    <a:lstStyle/>
                    <a:p>
                      <a:pPr indent="0" marL="0">
                        <a:buNone/>
                      </a:pPr>
                      <a:r>
                        <a:rPr lang="en-US" sz="1200" dirty="0">
                          <a:solidFill>
                            <a:schemeClr val="tx1"/>
                          </a:solidFill>
                        </a:rPr>
                        <a:t>SAM</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indent="0" marL="0">
                        <a:buNone/>
                      </a:pPr>
                      <a:r>
                        <a:rPr lang="en-US" sz="1200" dirty="0">
                          <a:solidFill>
                            <a:schemeClr val="tx1"/>
                          </a:solidFill>
                        </a:rPr>
                        <a:t>60+ con tarjeta débito o crédito activa</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indent="0" marL="0">
                        <a:buNone/>
                      </a:pPr>
                      <a:r>
                        <a:rPr lang="en-US" sz="1200" dirty="0">
                          <a:solidFill>
                            <a:schemeClr val="tx1"/>
                          </a:solidFill>
                        </a:rPr>
                        <a:t>3,0 / 3,5 / 4,0 M</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indent="0" marL="0">
                        <a:buNone/>
                      </a:pPr>
                      <a:r>
                        <a:rPr lang="en-US" sz="1200" dirty="0">
                          <a:solidFill>
                            <a:schemeClr val="tx1"/>
                          </a:solidFill>
                        </a:rPr>
                        <a:t>Supuesto (2,11 M pensionados)</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r>
              <a:tr h="329184">
                <a:tc>
                  <a:txBody>
                    <a:bodyPr/>
                    <a:lstStyle/>
                    <a:p>
                      <a:pPr indent="0" marL="0">
                        <a:buNone/>
                      </a:pPr>
                      <a:r>
                        <a:rPr lang="en-US" sz="1200" dirty="0">
                          <a:solidFill>
                            <a:schemeClr val="tx1"/>
                          </a:solidFill>
                        </a:rPr>
                        <a:t>SOM</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indent="0" marL="0">
                        <a:buNone/>
                      </a:pPr>
                      <a:r>
                        <a:rPr lang="en-US" sz="1200" dirty="0">
                          <a:solidFill>
                            <a:schemeClr val="tx1"/>
                          </a:solidFill>
                        </a:rPr>
                        <a:t>Tarjetas en bancos clientes de Credibanco</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indent="0" marL="0">
                        <a:buNone/>
                      </a:pPr>
                      <a:r>
                        <a:rPr lang="en-US" sz="1200" dirty="0">
                          <a:solidFill>
                            <a:schemeClr val="tx1"/>
                          </a:solidFill>
                        </a:rPr>
                        <a:t>1,05 / 1,40 / 1,60 M</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indent="0" marL="0">
                        <a:buNone/>
                      </a:pPr>
                      <a:r>
                        <a:rPr lang="en-US" sz="1200" dirty="0">
                          <a:solidFill>
                            <a:schemeClr val="tx1"/>
                          </a:solidFill>
                        </a:rPr>
                        <a:t>Supuesto (35–40%)</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r>
              <a:tr h="329184">
                <a:tc>
                  <a:txBody>
                    <a:bodyPr/>
                    <a:lstStyle/>
                    <a:p>
                      <a:pPr indent="0" marL="0">
                        <a:buNone/>
                      </a:pPr>
                      <a:r>
                        <a:rPr lang="en-US" sz="1200" dirty="0">
                          <a:solidFill>
                            <a:schemeClr val="tx1"/>
                          </a:solidFill>
                        </a:rPr>
                        <a:t>Año 3</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indent="0" marL="0">
                        <a:buNone/>
                      </a:pPr>
                      <a:r>
                        <a:rPr lang="en-US" sz="1200" dirty="0">
                          <a:solidFill>
                            <a:schemeClr val="tx1"/>
                          </a:solidFill>
                        </a:rPr>
                        <a:t>Tarjetas protegidas por el Escudo</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indent="0" marL="0">
                        <a:buNone/>
                      </a:pPr>
                      <a:r>
                        <a:rPr lang="en-US" sz="1200" dirty="0">
                          <a:solidFill>
                            <a:schemeClr val="tx1"/>
                          </a:solidFill>
                        </a:rPr>
                        <a:t>262 mil / 560 mil / 800 mil</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indent="0" marL="0">
                        <a:buNone/>
                      </a:pPr>
                      <a:r>
                        <a:rPr lang="en-US" sz="1200" dirty="0">
                          <a:solidFill>
                            <a:schemeClr val="tx1"/>
                          </a:solidFill>
                        </a:rPr>
                        <a:t>Supuesto (25–50% del SOM)</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r>
              <a:tr h="329184">
                <a:tc>
                  <a:txBody>
                    <a:bodyPr/>
                    <a:lstStyle/>
                    <a:p>
                      <a:pPr indent="0" marL="0">
                        <a:buNone/>
                      </a:pPr>
                      <a:r>
                        <a:rPr lang="en-US" sz="1200" dirty="0">
                          <a:solidFill>
                            <a:schemeClr val="tx1"/>
                          </a:solidFill>
                        </a:rPr>
                        <a:t>Año 3</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indent="0" marL="0">
                        <a:buNone/>
                      </a:pPr>
                      <a:r>
                        <a:rPr lang="en-US" sz="1200" dirty="0">
                          <a:solidFill>
                            <a:schemeClr val="tx1"/>
                          </a:solidFill>
                        </a:rPr>
                        <a:t>Personas inscritas en el Círculo</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indent="0" marL="0">
                        <a:buNone/>
                      </a:pPr>
                      <a:r>
                        <a:rPr lang="en-US" sz="1200" dirty="0">
                          <a:solidFill>
                            <a:schemeClr val="tx1"/>
                          </a:solidFill>
                        </a:rPr>
                        <a:t>26 mil / 78 mil / 144 mil</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indent="0" marL="0">
                        <a:buNone/>
                      </a:pPr>
                      <a:r>
                        <a:rPr lang="en-US" sz="1200" dirty="0">
                          <a:solidFill>
                            <a:schemeClr val="tx1"/>
                          </a:solidFill>
                        </a:rPr>
                        <a:t>Hipótesis H1</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r>
            </a:tbl>
          </a:graphicData>
        </a:graphic>
      </p:graphicFrame>
      <p:graphicFrame>
        <p:nvGraphicFramePr>
          <p:cNvPr id="19" name="Table 1"/>
          <p:cNvGraphicFramePr>
            <a:graphicFrameLocks noGrp="1"/>
          </p:cNvGraphicFramePr>
          <p:nvPr>
            <p:extLst>
              <p:ext uri="{D42A27DB-BD31-4B8C-83A1-F6EECF244321}">
                <p14:modId xmlns:p14="http://schemas.microsoft.com/office/powerpoint/2010/main" val="1579011935"/>
              </p:ext>
            </p:extLst>
          </p:nvPr>
        </p:nvGraphicFramePr>
        <p:xfrm>
          <a:off x="548640" y="3749040"/>
          <a:ext cx="11064240" cy="914400"/>
        </p:xfrm>
        <a:graphic>
          <a:graphicData uri="http://schemas.openxmlformats.org/drawingml/2006/table">
            <a:tbl>
              <a:tblPr/>
              <a:tblGrid>
                <a:gridCol w="4206240"/>
                <a:gridCol w="1143000"/>
                <a:gridCol w="1143000"/>
                <a:gridCol w="1280160"/>
                <a:gridCol w="1097280"/>
                <a:gridCol w="1097280"/>
                <a:gridCol w="1097280"/>
              </a:tblGrid>
              <a:tr h="329184">
                <a:tc>
                  <a:txBody>
                    <a:bodyPr/>
                    <a:lstStyle/>
                    <a:p>
                      <a:pPr algn="l" indent="0" marL="0">
                        <a:buNone/>
                      </a:pPr>
                      <a:r>
                        <a:rPr lang="en-US" sz="1200" b="1" dirty="0">
                          <a:solidFill>
                            <a:schemeClr val="bg1"/>
                          </a:solidFill>
                        </a:rPr>
                        <a:t>Alternativa</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solidFill>
                      <a:schemeClr val="tx2"/>
                    </a:solidFill>
                  </a:tcPr>
                </a:tc>
                <a:tc>
                  <a:txBody>
                    <a:bodyPr/>
                    <a:lstStyle/>
                    <a:p>
                      <a:pPr algn="l" indent="0" marL="0">
                        <a:buNone/>
                      </a:pPr>
                      <a:r>
                        <a:rPr lang="en-US" sz="1200" b="1" dirty="0">
                          <a:solidFill>
                            <a:schemeClr val="bg1"/>
                          </a:solidFill>
                        </a:rPr>
                        <a:t>Usuario 25%</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solidFill>
                      <a:schemeClr val="tx2"/>
                    </a:solidFill>
                  </a:tcPr>
                </a:tc>
                <a:tc>
                  <a:txBody>
                    <a:bodyPr/>
                    <a:lstStyle/>
                    <a:p>
                      <a:pPr algn="l" indent="0" marL="0">
                        <a:buNone/>
                      </a:pPr>
                      <a:r>
                        <a:rPr lang="en-US" sz="1200" b="1" dirty="0">
                          <a:solidFill>
                            <a:schemeClr val="bg1"/>
                          </a:solidFill>
                        </a:rPr>
                        <a:t>Pago B2B 25%</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solidFill>
                      <a:schemeClr val="tx2"/>
                    </a:solidFill>
                  </a:tcPr>
                </a:tc>
                <a:tc>
                  <a:txBody>
                    <a:bodyPr/>
                    <a:lstStyle/>
                    <a:p>
                      <a:pPr algn="l" indent="0" marL="0">
                        <a:buNone/>
                      </a:pPr>
                      <a:r>
                        <a:rPr lang="en-US" sz="1200" b="1" dirty="0">
                          <a:solidFill>
                            <a:schemeClr val="bg1"/>
                          </a:solidFill>
                        </a:rPr>
                        <a:t>Capacidades 20%</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solidFill>
                      <a:schemeClr val="tx2"/>
                    </a:solidFill>
                  </a:tcPr>
                </a:tc>
                <a:tc>
                  <a:txBody>
                    <a:bodyPr/>
                    <a:lstStyle/>
                    <a:p>
                      <a:pPr algn="l" indent="0" marL="0">
                        <a:buNone/>
                      </a:pPr>
                      <a:r>
                        <a:rPr lang="en-US" sz="1200" b="1" dirty="0">
                          <a:solidFill>
                            <a:schemeClr val="bg1"/>
                          </a:solidFill>
                        </a:rPr>
                        <a:t>Tiempo 15%</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solidFill>
                      <a:schemeClr val="tx2"/>
                    </a:solidFill>
                  </a:tcPr>
                </a:tc>
                <a:tc>
                  <a:txBody>
                    <a:bodyPr/>
                    <a:lstStyle/>
                    <a:p>
                      <a:pPr algn="l" indent="0" marL="0">
                        <a:buNone/>
                      </a:pPr>
                      <a:r>
                        <a:rPr lang="en-US" sz="1200" b="1" dirty="0">
                          <a:solidFill>
                            <a:schemeClr val="bg1"/>
                          </a:solidFill>
                        </a:rPr>
                        <a:t>Riesgo 15%</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solidFill>
                      <a:schemeClr val="tx2"/>
                    </a:solidFill>
                  </a:tcPr>
                </a:tc>
                <a:tc>
                  <a:txBody>
                    <a:bodyPr/>
                    <a:lstStyle/>
                    <a:p>
                      <a:pPr algn="l" indent="0" marL="0">
                        <a:buNone/>
                      </a:pPr>
                      <a:r>
                        <a:rPr lang="en-US" sz="1200" b="1" dirty="0">
                          <a:solidFill>
                            <a:schemeClr val="bg1"/>
                          </a:solidFill>
                        </a:rPr>
                        <a:t>Total</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solidFill>
                      <a:schemeClr val="tx2"/>
                    </a:solidFill>
                  </a:tcPr>
                </a:tc>
              </a:tr>
              <a:tr h="329184">
                <a:tc>
                  <a:txBody>
                    <a:bodyPr/>
                    <a:lstStyle/>
                    <a:p>
                      <a:pPr algn="l" indent="0" marL="0">
                        <a:buNone/>
                      </a:pPr>
                      <a:r>
                        <a:rPr lang="en-US" sz="1200" b="1" dirty="0">
                          <a:solidFill>
                            <a:schemeClr val="tx1"/>
                          </a:solidFill>
                        </a:rPr>
                        <a:t>Servicio para emisores (Escudo + Círculo)</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algn="l" indent="0" marL="0">
                        <a:buNone/>
                      </a:pPr>
                      <a:r>
                        <a:rPr lang="en-US" sz="1200" dirty="0">
                          <a:solidFill>
                            <a:schemeClr val="tx1"/>
                          </a:solidFill>
                        </a:rPr>
                        <a:t>5</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algn="l" indent="0" marL="0">
                        <a:buNone/>
                      </a:pPr>
                      <a:r>
                        <a:rPr lang="en-US" sz="1200" dirty="0">
                          <a:solidFill>
                            <a:schemeClr val="tx1"/>
                          </a:solidFill>
                        </a:rPr>
                        <a:t>4</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algn="l" indent="0" marL="0">
                        <a:buNone/>
                      </a:pPr>
                      <a:r>
                        <a:rPr lang="en-US" sz="1200" dirty="0">
                          <a:solidFill>
                            <a:schemeClr val="tx1"/>
                          </a:solidFill>
                        </a:rPr>
                        <a:t>5</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algn="l" indent="0" marL="0">
                        <a:buNone/>
                      </a:pPr>
                      <a:r>
                        <a:rPr lang="en-US" sz="1200" dirty="0">
                          <a:solidFill>
                            <a:schemeClr val="tx1"/>
                          </a:solidFill>
                        </a:rPr>
                        <a:t>4</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algn="l" indent="0" marL="0">
                        <a:buNone/>
                      </a:pPr>
                      <a:r>
                        <a:rPr lang="en-US" sz="1200" dirty="0">
                          <a:solidFill>
                            <a:schemeClr val="tx1"/>
                          </a:solidFill>
                        </a:rPr>
                        <a:t>4</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algn="l" indent="0" marL="0">
                        <a:buNone/>
                      </a:pPr>
                      <a:r>
                        <a:rPr lang="en-US" sz="1200" b="1" dirty="0">
                          <a:solidFill>
                            <a:schemeClr val="tx1"/>
                          </a:solidFill>
                        </a:rPr>
                        <a:t>4,45</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solidFill>
                      <a:srgbClr val="DDF0EB"/>
                    </a:solidFill>
                  </a:tcPr>
                </a:tc>
              </a:tr>
              <a:tr h="329184">
                <a:tc>
                  <a:txBody>
                    <a:bodyPr/>
                    <a:lstStyle/>
                    <a:p>
                      <a:pPr algn="l" indent="0" marL="0">
                        <a:buNone/>
                      </a:pPr>
                      <a:r>
                        <a:rPr lang="en-US" sz="1200" dirty="0">
                          <a:solidFill>
                            <a:schemeClr val="tx1"/>
                          </a:solidFill>
                        </a:rPr>
                        <a:t>Modo Senior en datáfono y Tap to Phone</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algn="l" indent="0" marL="0">
                        <a:buNone/>
                      </a:pPr>
                      <a:r>
                        <a:rPr lang="en-US" sz="1200" dirty="0">
                          <a:solidFill>
                            <a:schemeClr val="tx1"/>
                          </a:solidFill>
                        </a:rPr>
                        <a:t>3</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algn="l" indent="0" marL="0">
                        <a:buNone/>
                      </a:pPr>
                      <a:r>
                        <a:rPr lang="en-US" sz="1200" dirty="0">
                          <a:solidFill>
                            <a:schemeClr val="tx1"/>
                          </a:solidFill>
                        </a:rPr>
                        <a:t>2</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algn="l" indent="0" marL="0">
                        <a:buNone/>
                      </a:pPr>
                      <a:r>
                        <a:rPr lang="en-US" sz="1200" dirty="0">
                          <a:solidFill>
                            <a:schemeClr val="tx1"/>
                          </a:solidFill>
                        </a:rPr>
                        <a:t>4</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algn="l" indent="0" marL="0">
                        <a:buNone/>
                      </a:pPr>
                      <a:r>
                        <a:rPr lang="en-US" sz="1200" dirty="0">
                          <a:solidFill>
                            <a:schemeClr val="tx1"/>
                          </a:solidFill>
                        </a:rPr>
                        <a:t>3</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algn="l" indent="0" marL="0">
                        <a:buNone/>
                      </a:pPr>
                      <a:r>
                        <a:rPr lang="en-US" sz="1200" dirty="0">
                          <a:solidFill>
                            <a:schemeClr val="tx1"/>
                          </a:solidFill>
                        </a:rPr>
                        <a:t>4</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algn="l" indent="0" marL="0">
                        <a:buNone/>
                      </a:pPr>
                      <a:r>
                        <a:rPr lang="en-US" sz="1200" dirty="0">
                          <a:solidFill>
                            <a:schemeClr val="tx1"/>
                          </a:solidFill>
                        </a:rPr>
                        <a:t>3,10</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r>
              <a:tr h="329184">
                <a:tc>
                  <a:txBody>
                    <a:bodyPr/>
                    <a:lstStyle/>
                    <a:p>
                      <a:pPr algn="l" indent="0" marL="0">
                        <a:buNone/>
                      </a:pPr>
                      <a:r>
                        <a:rPr lang="en-US" sz="1200" dirty="0">
                          <a:solidFill>
                            <a:schemeClr val="tx1"/>
                          </a:solidFill>
                        </a:rPr>
                        <a:t>Alianza con aseguradora</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algn="l" indent="0" marL="0">
                        <a:buNone/>
                      </a:pPr>
                      <a:r>
                        <a:rPr lang="en-US" sz="1200" dirty="0">
                          <a:solidFill>
                            <a:schemeClr val="tx1"/>
                          </a:solidFill>
                        </a:rPr>
                        <a:t>3</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algn="l" indent="0" marL="0">
                        <a:buNone/>
                      </a:pPr>
                      <a:r>
                        <a:rPr lang="en-US" sz="1200" dirty="0">
                          <a:solidFill>
                            <a:schemeClr val="tx1"/>
                          </a:solidFill>
                        </a:rPr>
                        <a:t>3</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algn="l" indent="0" marL="0">
                        <a:buNone/>
                      </a:pPr>
                      <a:r>
                        <a:rPr lang="en-US" sz="1200" dirty="0">
                          <a:solidFill>
                            <a:schemeClr val="tx1"/>
                          </a:solidFill>
                        </a:rPr>
                        <a:t>3</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algn="l" indent="0" marL="0">
                        <a:buNone/>
                      </a:pPr>
                      <a:r>
                        <a:rPr lang="en-US" sz="1200" dirty="0">
                          <a:solidFill>
                            <a:schemeClr val="tx1"/>
                          </a:solidFill>
                        </a:rPr>
                        <a:t>3</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algn="l" indent="0" marL="0">
                        <a:buNone/>
                      </a:pPr>
                      <a:r>
                        <a:rPr lang="en-US" sz="1200" dirty="0">
                          <a:solidFill>
                            <a:schemeClr val="tx1"/>
                          </a:solidFill>
                        </a:rPr>
                        <a:t>3</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algn="l" indent="0" marL="0">
                        <a:buNone/>
                      </a:pPr>
                      <a:r>
                        <a:rPr lang="en-US" sz="1200" dirty="0">
                          <a:solidFill>
                            <a:schemeClr val="tx1"/>
                          </a:solidFill>
                        </a:rPr>
                        <a:t>3,00</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r>
              <a:tr h="329184">
                <a:tc>
                  <a:txBody>
                    <a:bodyPr/>
                    <a:lstStyle/>
                    <a:p>
                      <a:pPr algn="l" indent="0" marL="0">
                        <a:buNone/>
                      </a:pPr>
                      <a:r>
                        <a:rPr lang="en-US" sz="1200" dirty="0">
                          <a:solidFill>
                            <a:schemeClr val="tx1"/>
                          </a:solidFill>
                        </a:rPr>
                        <a:t>Analítica "Silver" para comercios</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algn="l" indent="0" marL="0">
                        <a:buNone/>
                      </a:pPr>
                      <a:r>
                        <a:rPr lang="en-US" sz="1200" dirty="0">
                          <a:solidFill>
                            <a:schemeClr val="tx1"/>
                          </a:solidFill>
                        </a:rPr>
                        <a:t>2</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algn="l" indent="0" marL="0">
                        <a:buNone/>
                      </a:pPr>
                      <a:r>
                        <a:rPr lang="en-US" sz="1200" dirty="0">
                          <a:solidFill>
                            <a:schemeClr val="tx1"/>
                          </a:solidFill>
                        </a:rPr>
                        <a:t>3</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algn="l" indent="0" marL="0">
                        <a:buNone/>
                      </a:pPr>
                      <a:r>
                        <a:rPr lang="en-US" sz="1200" dirty="0">
                          <a:solidFill>
                            <a:schemeClr val="tx1"/>
                          </a:solidFill>
                        </a:rPr>
                        <a:t>3</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algn="l" indent="0" marL="0">
                        <a:buNone/>
                      </a:pPr>
                      <a:r>
                        <a:rPr lang="en-US" sz="1200" dirty="0">
                          <a:solidFill>
                            <a:schemeClr val="tx1"/>
                          </a:solidFill>
                        </a:rPr>
                        <a:t>4</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algn="l" indent="0" marL="0">
                        <a:buNone/>
                      </a:pPr>
                      <a:r>
                        <a:rPr lang="en-US" sz="1200" dirty="0">
                          <a:solidFill>
                            <a:schemeClr val="tx1"/>
                          </a:solidFill>
                        </a:rPr>
                        <a:t>3</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algn="l" indent="0" marL="0">
                        <a:buNone/>
                      </a:pPr>
                      <a:r>
                        <a:rPr lang="en-US" sz="1200" dirty="0">
                          <a:solidFill>
                            <a:schemeClr val="tx1"/>
                          </a:solidFill>
                        </a:rPr>
                        <a:t>2,90</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r>
              <a:tr h="329184">
                <a:tc>
                  <a:txBody>
                    <a:bodyPr/>
                    <a:lstStyle/>
                    <a:p>
                      <a:pPr algn="l" indent="0" marL="0">
                        <a:buNone/>
                      </a:pPr>
                      <a:r>
                        <a:rPr lang="en-US" sz="1200" dirty="0">
                          <a:solidFill>
                            <a:schemeClr val="tx1"/>
                          </a:solidFill>
                        </a:rPr>
                        <a:t>Dispersión de subsidios del pilar solidario</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algn="l" indent="0" marL="0">
                        <a:buNone/>
                      </a:pPr>
                      <a:r>
                        <a:rPr lang="en-US" sz="1200" dirty="0">
                          <a:solidFill>
                            <a:schemeClr val="tx1"/>
                          </a:solidFill>
                        </a:rPr>
                        <a:t>4</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algn="l" indent="0" marL="0">
                        <a:buNone/>
                      </a:pPr>
                      <a:r>
                        <a:rPr lang="en-US" sz="1200" dirty="0">
                          <a:solidFill>
                            <a:schemeClr val="tx1"/>
                          </a:solidFill>
                        </a:rPr>
                        <a:t>3</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algn="l" indent="0" marL="0">
                        <a:buNone/>
                      </a:pPr>
                      <a:r>
                        <a:rPr lang="en-US" sz="1200" dirty="0">
                          <a:solidFill>
                            <a:schemeClr val="tx1"/>
                          </a:solidFill>
                        </a:rPr>
                        <a:t>3</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algn="l" indent="0" marL="0">
                        <a:buNone/>
                      </a:pPr>
                      <a:r>
                        <a:rPr lang="en-US" sz="1200" dirty="0">
                          <a:solidFill>
                            <a:schemeClr val="tx1"/>
                          </a:solidFill>
                        </a:rPr>
                        <a:t>1</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algn="l" indent="0" marL="0">
                        <a:buNone/>
                      </a:pPr>
                      <a:r>
                        <a:rPr lang="en-US" sz="1200" dirty="0">
                          <a:solidFill>
                            <a:schemeClr val="tx1"/>
                          </a:solidFill>
                        </a:rPr>
                        <a:t>2</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algn="l" indent="0" marL="0">
                        <a:buNone/>
                      </a:pPr>
                      <a:r>
                        <a:rPr lang="en-US" sz="1200" dirty="0">
                          <a:solidFill>
                            <a:schemeClr val="tx1"/>
                          </a:solidFill>
                        </a:rPr>
                        <a:t>2,80</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r>
              <a:tr h="329184">
                <a:tc>
                  <a:txBody>
                    <a:bodyPr/>
                    <a:lstStyle/>
                    <a:p>
                      <a:pPr algn="l" indent="0" marL="0">
                        <a:buNone/>
                      </a:pPr>
                      <a:r>
                        <a:rPr lang="en-US" sz="1200" dirty="0">
                          <a:solidFill>
                            <a:schemeClr val="tx1"/>
                          </a:solidFill>
                        </a:rPr>
                        <a:t>Billetera B2C para mayores</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algn="l" indent="0" marL="0">
                        <a:buNone/>
                      </a:pPr>
                      <a:r>
                        <a:rPr lang="en-US" sz="1200" dirty="0">
                          <a:solidFill>
                            <a:schemeClr val="tx1"/>
                          </a:solidFill>
                        </a:rPr>
                        <a:t>4</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algn="l" indent="0" marL="0">
                        <a:buNone/>
                      </a:pPr>
                      <a:r>
                        <a:rPr lang="en-US" sz="1200" dirty="0">
                          <a:solidFill>
                            <a:schemeClr val="tx1"/>
                          </a:solidFill>
                        </a:rPr>
                        <a:t>1</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algn="l" indent="0" marL="0">
                        <a:buNone/>
                      </a:pPr>
                      <a:r>
                        <a:rPr lang="en-US" sz="1200" dirty="0">
                          <a:solidFill>
                            <a:schemeClr val="tx1"/>
                          </a:solidFill>
                        </a:rPr>
                        <a:t>2</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algn="l" indent="0" marL="0">
                        <a:buNone/>
                      </a:pPr>
                      <a:r>
                        <a:rPr lang="en-US" sz="1200" dirty="0">
                          <a:solidFill>
                            <a:schemeClr val="tx1"/>
                          </a:solidFill>
                        </a:rPr>
                        <a:t>2</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algn="l" indent="0" marL="0">
                        <a:buNone/>
                      </a:pPr>
                      <a:r>
                        <a:rPr lang="en-US" sz="1200" dirty="0">
                          <a:solidFill>
                            <a:schemeClr val="tx1"/>
                          </a:solidFill>
                        </a:rPr>
                        <a:t>2</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algn="l" indent="0" marL="0">
                        <a:buNone/>
                      </a:pPr>
                      <a:r>
                        <a:rPr lang="en-US" sz="1200" dirty="0">
                          <a:solidFill>
                            <a:schemeClr val="tx1"/>
                          </a:solidFill>
                        </a:rPr>
                        <a:t>2,25</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64240" cy="292608"/>
          </a:xfrm>
          <a:prstGeom prst="rect">
            <a:avLst/>
          </a:prstGeom>
          <a:noFill/>
          <a:ln/>
        </p:spPr>
        <p:txBody>
          <a:bodyPr wrap="square" lIns="0" tIns="0" rIns="0" bIns="0" rtlCol="0" anchor="t"/>
          <a:lstStyle/>
          <a:p>
            <a:pPr indent="0" marL="0">
              <a:buNone/>
            </a:pPr>
            <a:r>
              <a:rPr lang="en-US" sz="1200" b="1" spc="200" kern="0" dirty="0">
                <a:solidFill>
                  <a:schemeClr val="accent2"/>
                </a:solidFill>
              </a:rPr>
              <a:t>ANEXO D</a:t>
            </a:r>
            <a:endParaRPr lang="en-US" sz="1200" dirty="0"/>
          </a:p>
        </p:txBody>
      </p:sp>
      <p:sp>
        <p:nvSpPr>
          <p:cNvPr id="3" name="Text 0"/>
          <p:cNvSpPr/>
          <p:nvPr>
            <p:ph idx="101" type="title" hasCustomPrompt="1"/>
          </p:nvPr>
        </p:nvSpPr>
        <p:spPr>
          <a:xfrm>
            <a:off x="548640" y="640080"/>
            <a:ext cx="11064240" cy="685800"/>
          </a:xfrm>
          <a:prstGeom prst="rect">
            <a:avLst/>
          </a:prstGeom>
          <a:noFill/>
          <a:ln/>
        </p:spPr>
        <p:txBody>
          <a:bodyPr wrap="square" lIns="0" tIns="0" rIns="0" bIns="0" rtlCol="0" anchor="t"/>
          <a:lstStyle/>
          <a:p>
            <a:pPr algn="l" indent="0" marL="0">
              <a:buNone/>
            </a:pPr>
            <a:r>
              <a:rPr lang="en-US" sz="3000" b="1" dirty="0">
                <a:solidFill>
                  <a:schemeClr val="tx2"/>
                </a:solidFill>
                <a:latin typeface="Cambria" pitchFamily="34" charset="0"/>
                <a:ea typeface="Cambria" pitchFamily="34" charset="-122"/>
                <a:cs typeface="Cambria" pitchFamily="34" charset="-120"/>
              </a:rPr>
              <a:t>Roles y arquitectura de referencia</a:t>
            </a:r>
            <a:endParaRPr lang="en-US" sz="3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64240" cy="914400"/>
        </p:xfrm>
        <a:graphic>
          <a:graphicData uri="http://schemas.openxmlformats.org/drawingml/2006/table">
            <a:tbl>
              <a:tblPr/>
              <a:tblGrid>
                <a:gridCol w="2377440"/>
                <a:gridCol w="3291840"/>
                <a:gridCol w="5394960"/>
              </a:tblGrid>
              <a:tr h="329184">
                <a:tc>
                  <a:txBody>
                    <a:bodyPr/>
                    <a:lstStyle/>
                    <a:p>
                      <a:pPr indent="0" marL="0">
                        <a:buNone/>
                      </a:pPr>
                      <a:r>
                        <a:rPr lang="en-US" sz="1200" b="1" dirty="0">
                          <a:solidFill>
                            <a:schemeClr val="bg1"/>
                          </a:solidFill>
                        </a:rPr>
                        <a:t>Actor</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Rol</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Qué gana</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solidFill>
                      <a:schemeClr val="tx2"/>
                    </a:solidFill>
                  </a:tcPr>
                </a:tc>
              </a:tr>
              <a:tr h="329184">
                <a:tc>
                  <a:txBody>
                    <a:bodyPr/>
                    <a:lstStyle/>
                    <a:p>
                      <a:pPr indent="0" marL="0">
                        <a:buNone/>
                      </a:pPr>
                      <a:r>
                        <a:rPr lang="en-US" sz="1200" dirty="0">
                          <a:solidFill>
                            <a:schemeClr val="tx1"/>
                          </a:solidFill>
                        </a:rPr>
                        <a:t>Persona de 60+</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indent="0" marL="0">
                        <a:buNone/>
                      </a:pPr>
                      <a:r>
                        <a:rPr lang="en-US" sz="1200" dirty="0">
                          <a:solidFill>
                            <a:schemeClr val="tx1"/>
                          </a:solidFill>
                        </a:rPr>
                        <a:t>Usuario principal</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indent="0" marL="0">
                        <a:buNone/>
                      </a:pPr>
                      <a:r>
                        <a:rPr lang="en-US" sz="1200" dirty="0">
                          <a:solidFill>
                            <a:schemeClr val="tx1"/>
                          </a:solidFill>
                        </a:rPr>
                        <a:t>Seguridad y autonomía</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r>
              <a:tr h="329184">
                <a:tc>
                  <a:txBody>
                    <a:bodyPr/>
                    <a:lstStyle/>
                    <a:p>
                      <a:pPr indent="0" marL="0">
                        <a:buNone/>
                      </a:pPr>
                      <a:r>
                        <a:rPr lang="en-US" sz="1200" dirty="0">
                          <a:solidFill>
                            <a:schemeClr val="tx1"/>
                          </a:solidFill>
                        </a:rPr>
                        <a:t>Familiar o cuidador</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indent="0" marL="0">
                        <a:buNone/>
                      </a:pPr>
                      <a:r>
                        <a:rPr lang="en-US" sz="1200" dirty="0">
                          <a:solidFill>
                            <a:schemeClr val="tx1"/>
                          </a:solidFill>
                        </a:rPr>
                        <a:t>Usuario secundario</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indent="0" marL="0">
                        <a:buNone/>
                      </a:pPr>
                      <a:r>
                        <a:rPr lang="en-US" sz="1200" dirty="0">
                          <a:solidFill>
                            <a:schemeClr val="tx1"/>
                          </a:solidFill>
                        </a:rPr>
                        <a:t>Tranquilidad y visibilidad</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r>
              <a:tr h="329184">
                <a:tc>
                  <a:txBody>
                    <a:bodyPr/>
                    <a:lstStyle/>
                    <a:p>
                      <a:pPr indent="0" marL="0">
                        <a:buNone/>
                      </a:pPr>
                      <a:r>
                        <a:rPr lang="en-US" sz="1200" dirty="0">
                          <a:solidFill>
                            <a:schemeClr val="tx1"/>
                          </a:solidFill>
                        </a:rPr>
                        <a:t>Banco emisor</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indent="0" marL="0">
                        <a:buNone/>
                      </a:pPr>
                      <a:r>
                        <a:rPr lang="en-US" sz="1200" dirty="0">
                          <a:solidFill>
                            <a:schemeClr val="tx1"/>
                          </a:solidFill>
                        </a:rPr>
                        <a:t>Cliente: paga, decide y distribuye</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indent="0" marL="0">
                        <a:buNone/>
                      </a:pPr>
                      <a:r>
                        <a:rPr lang="en-US" sz="1200" dirty="0">
                          <a:solidFill>
                            <a:schemeClr val="tx1"/>
                          </a:solidFill>
                        </a:rPr>
                        <a:t>Menos fraude, más uso y retención de mesadas</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r>
              <a:tr h="329184">
                <a:tc>
                  <a:txBody>
                    <a:bodyPr/>
                    <a:lstStyle/>
                    <a:p>
                      <a:pPr indent="0" marL="0">
                        <a:buNone/>
                      </a:pPr>
                      <a:r>
                        <a:rPr lang="en-US" sz="1200" dirty="0">
                          <a:solidFill>
                            <a:schemeClr val="tx1"/>
                          </a:solidFill>
                        </a:rPr>
                        <a:t>Comercio</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indent="0" marL="0">
                        <a:buNone/>
                      </a:pPr>
                      <a:r>
                        <a:rPr lang="en-US" sz="1200" dirty="0">
                          <a:solidFill>
                            <a:schemeClr val="tx1"/>
                          </a:solidFill>
                        </a:rPr>
                        <a:t>Beneficiario</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indent="0" marL="0">
                        <a:buNone/>
                      </a:pPr>
                      <a:r>
                        <a:rPr lang="en-US" sz="1200" dirty="0">
                          <a:solidFill>
                            <a:schemeClr val="tx1"/>
                          </a:solidFill>
                        </a:rPr>
                        <a:t>Más ventas con tarjeta</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r>
              <a:tr h="329184">
                <a:tc>
                  <a:txBody>
                    <a:bodyPr/>
                    <a:lstStyle/>
                    <a:p>
                      <a:pPr indent="0" marL="0">
                        <a:buNone/>
                      </a:pPr>
                      <a:r>
                        <a:rPr lang="en-US" sz="1200" dirty="0">
                          <a:solidFill>
                            <a:schemeClr val="tx1"/>
                          </a:solidFill>
                        </a:rPr>
                        <a:t>Credibanco</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indent="0" marL="0">
                        <a:buNone/>
                      </a:pPr>
                      <a:r>
                        <a:rPr lang="en-US" sz="1200" dirty="0">
                          <a:solidFill>
                            <a:schemeClr val="tx1"/>
                          </a:solidFill>
                        </a:rPr>
                        <a:t>Proveedor de la red</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indent="0" marL="0">
                        <a:buNone/>
                      </a:pPr>
                      <a:r>
                        <a:rPr lang="en-US" sz="1200" dirty="0">
                          <a:solidFill>
                            <a:schemeClr val="tx1"/>
                          </a:solidFill>
                        </a:rPr>
                        <a:t>Ingresos por servicios, retención de emisores y transacciones</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r>
            </a:tbl>
          </a:graphicData>
        </a:graphic>
      </p:graphicFrame>
      <p:graphicFrame>
        <p:nvGraphicFramePr>
          <p:cNvPr id="21" name="Table 1"/>
          <p:cNvGraphicFramePr>
            <a:graphicFrameLocks noGrp="1"/>
          </p:cNvGraphicFramePr>
          <p:nvPr>
            <p:extLst>
              <p:ext uri="{D42A27DB-BD31-4B8C-83A1-F6EECF244321}">
                <p14:modId xmlns:p14="http://schemas.microsoft.com/office/powerpoint/2010/main" val="1579011935"/>
              </p:ext>
            </p:extLst>
          </p:nvPr>
        </p:nvGraphicFramePr>
        <p:xfrm>
          <a:off x="548640" y="3657600"/>
          <a:ext cx="11064240" cy="914400"/>
        </p:xfrm>
        <a:graphic>
          <a:graphicData uri="http://schemas.openxmlformats.org/drawingml/2006/table">
            <a:tbl>
              <a:tblPr/>
              <a:tblGrid>
                <a:gridCol w="3840480"/>
                <a:gridCol w="3749040"/>
                <a:gridCol w="3474720"/>
              </a:tblGrid>
              <a:tr h="347472">
                <a:tc>
                  <a:txBody>
                    <a:bodyPr/>
                    <a:lstStyle/>
                    <a:p>
                      <a:pPr indent="0" marL="0">
                        <a:buNone/>
                      </a:pPr>
                      <a:r>
                        <a:rPr lang="en-US" sz="1200" b="1" dirty="0">
                          <a:solidFill>
                            <a:schemeClr val="bg1"/>
                          </a:solidFill>
                        </a:rPr>
                        <a:t>Componente</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Propósito</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Dependencia</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solidFill>
                      <a:schemeClr val="tx2"/>
                    </a:solidFill>
                  </a:tcPr>
                </a:tc>
              </a:tr>
              <a:tr h="347472">
                <a:tc>
                  <a:txBody>
                    <a:bodyPr/>
                    <a:lstStyle/>
                    <a:p>
                      <a:pPr indent="0" marL="0">
                        <a:buNone/>
                      </a:pPr>
                      <a:r>
                        <a:rPr lang="en-US" sz="1200" dirty="0">
                          <a:solidFill>
                            <a:schemeClr val="tx1"/>
                          </a:solidFill>
                        </a:rPr>
                        <a:t>Switch de autorización y motor de reglas (existe)</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indent="0" marL="0">
                        <a:buNone/>
                      </a:pPr>
                      <a:r>
                        <a:rPr lang="en-US" sz="1200" dirty="0">
                          <a:solidFill>
                            <a:schemeClr val="tx1"/>
                          </a:solidFill>
                        </a:rPr>
                        <a:t>Aplicar reglas del Escudo y límites del Círculo</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indent="0" marL="0">
                        <a:buNone/>
                      </a:pPr>
                      <a:r>
                        <a:rPr lang="en-US" sz="1200" dirty="0">
                          <a:solidFill>
                            <a:schemeClr val="tx1"/>
                          </a:solidFill>
                        </a:rPr>
                        <a:t>Que el banco procese con Credibanco o comparta eventos</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r>
              <a:tr h="347472">
                <a:tc>
                  <a:txBody>
                    <a:bodyPr/>
                    <a:lstStyle/>
                    <a:p>
                      <a:pPr indent="0" marL="0">
                        <a:buNone/>
                      </a:pPr>
                      <a:r>
                        <a:rPr lang="en-US" sz="1200" dirty="0">
                          <a:solidFill>
                            <a:schemeClr val="tx1"/>
                          </a:solidFill>
                        </a:rPr>
                        <a:t>API de inscripción y consentimiento (nueva)</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indent="0" marL="0">
                        <a:buNone/>
                      </a:pPr>
                      <a:r>
                        <a:rPr lang="en-US" sz="1200" dirty="0">
                          <a:solidFill>
                            <a:schemeClr val="tx1"/>
                          </a:solidFill>
                        </a:rPr>
                        <a:t>Marcar tarjetas 60+ e inscribir al familiar</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indent="0" marL="0">
                        <a:buNone/>
                      </a:pPr>
                      <a:r>
                        <a:rPr lang="en-US" sz="1200" dirty="0">
                          <a:solidFill>
                            <a:schemeClr val="tx1"/>
                          </a:solidFill>
                        </a:rPr>
                        <a:t>Integración con la app o el core del banco</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r>
              <a:tr h="347472">
                <a:tc>
                  <a:txBody>
                    <a:bodyPr/>
                    <a:lstStyle/>
                    <a:p>
                      <a:pPr indent="0" marL="0">
                        <a:buNone/>
                      </a:pPr>
                      <a:r>
                        <a:rPr lang="en-US" sz="1200" dirty="0">
                          <a:solidFill>
                            <a:schemeClr val="tx1"/>
                          </a:solidFill>
                        </a:rPr>
                        <a:t>Notificaciones (nuevo)</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indent="0" marL="0">
                        <a:buNone/>
                      </a:pPr>
                      <a:r>
                        <a:rPr lang="en-US" sz="1200" dirty="0">
                          <a:solidFill>
                            <a:schemeClr val="tx1"/>
                          </a:solidFill>
                        </a:rPr>
                        <a:t>Alertas y verificaciones por WhatsApp y SMS</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indent="0" marL="0">
                        <a:buNone/>
                      </a:pPr>
                      <a:r>
                        <a:rPr lang="en-US" sz="1200" dirty="0">
                          <a:solidFill>
                            <a:schemeClr val="tx1"/>
                          </a:solidFill>
                        </a:rPr>
                        <a:t>Proveedor de WhatsApp Business</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r>
              <a:tr h="347472">
                <a:tc>
                  <a:txBody>
                    <a:bodyPr/>
                    <a:lstStyle/>
                    <a:p>
                      <a:pPr indent="0" marL="0">
                        <a:buNone/>
                      </a:pPr>
                      <a:r>
                        <a:rPr lang="en-US" sz="1200" dirty="0">
                          <a:solidFill>
                            <a:schemeClr val="tx1"/>
                          </a:solidFill>
                        </a:rPr>
                        <a:t>EMV 3-D Secure</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indent="0" marL="0">
                        <a:buNone/>
                      </a:pPr>
                      <a:r>
                        <a:rPr lang="en-US" sz="1200" dirty="0">
                          <a:solidFill>
                            <a:schemeClr val="tx1"/>
                          </a:solidFill>
                        </a:rPr>
                        <a:t>Co-aprobación de compras en línea</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indent="0" marL="0">
                        <a:buNone/>
                      </a:pPr>
                      <a:r>
                        <a:rPr lang="en-US" sz="1200" dirty="0">
                          <a:solidFill>
                            <a:schemeClr val="tx1"/>
                          </a:solidFill>
                        </a:rPr>
                        <a:t>Proveedor ACS del banco</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r>
              <a:tr h="347472">
                <a:tc>
                  <a:txBody>
                    <a:bodyPr/>
                    <a:lstStyle/>
                    <a:p>
                      <a:pPr indent="0" marL="0">
                        <a:buNone/>
                      </a:pPr>
                      <a:r>
                        <a:rPr lang="en-US" sz="1200" dirty="0">
                          <a:solidFill>
                            <a:schemeClr val="tx1"/>
                          </a:solidFill>
                        </a:rPr>
                        <a:t>Portal del familiar (web ligera)</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indent="0" marL="0">
                        <a:buNone/>
                      </a:pPr>
                      <a:r>
                        <a:rPr lang="en-US" sz="1200" dirty="0">
                          <a:solidFill>
                            <a:schemeClr val="tx1"/>
                          </a:solidFill>
                        </a:rPr>
                        <a:t>Ver alertas, ajustar límites, bloquear</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indent="0" marL="0">
                        <a:buNone/>
                      </a:pPr>
                      <a:r>
                        <a:rPr lang="en-US" sz="1200" dirty="0">
                          <a:solidFill>
                            <a:schemeClr val="tx1"/>
                          </a:solidFill>
                        </a:rPr>
                        <a:t>Autenticación fuerte</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r>
              <a:tr h="347472">
                <a:tc>
                  <a:txBody>
                    <a:bodyPr/>
                    <a:lstStyle/>
                    <a:p>
                      <a:pPr indent="0" marL="0">
                        <a:buNone/>
                      </a:pPr>
                      <a:r>
                        <a:rPr lang="en-US" sz="1200" dirty="0">
                          <a:solidFill>
                            <a:schemeClr val="tx1"/>
                          </a:solidFill>
                        </a:rPr>
                        <a:t>Datos y auditoría (PCI DSS)</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indent="0" marL="0">
                        <a:buNone/>
                      </a:pPr>
                      <a:r>
                        <a:rPr lang="en-US" sz="1200" dirty="0">
                          <a:solidFill>
                            <a:schemeClr val="tx1"/>
                          </a:solidFill>
                        </a:rPr>
                        <a:t>Medir el piloto y trazar consentimientos</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indent="0" marL="0">
                        <a:buNone/>
                      </a:pPr>
                      <a:r>
                        <a:rPr lang="en-US" sz="1200" dirty="0">
                          <a:solidFill>
                            <a:schemeClr val="tx1"/>
                          </a:solidFill>
                        </a:rPr>
                        <a:t>Ley 1581 de 2012</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64240" cy="292608"/>
          </a:xfrm>
          <a:prstGeom prst="rect">
            <a:avLst/>
          </a:prstGeom>
          <a:noFill/>
          <a:ln/>
        </p:spPr>
        <p:txBody>
          <a:bodyPr wrap="square" lIns="0" tIns="0" rIns="0" bIns="0" rtlCol="0" anchor="t"/>
          <a:lstStyle/>
          <a:p>
            <a:pPr indent="0" marL="0">
              <a:buNone/>
            </a:pPr>
            <a:r>
              <a:rPr lang="en-US" sz="1200" b="1" spc="200" kern="0" dirty="0">
                <a:solidFill>
                  <a:schemeClr val="accent2"/>
                </a:solidFill>
              </a:rPr>
              <a:t>ANEXO E</a:t>
            </a:r>
            <a:endParaRPr lang="en-US" sz="1200" dirty="0"/>
          </a:p>
        </p:txBody>
      </p:sp>
      <p:sp>
        <p:nvSpPr>
          <p:cNvPr id="3" name="Text 0"/>
          <p:cNvSpPr/>
          <p:nvPr>
            <p:ph idx="101" type="title" hasCustomPrompt="1"/>
          </p:nvPr>
        </p:nvSpPr>
        <p:spPr>
          <a:xfrm>
            <a:off x="548640" y="640080"/>
            <a:ext cx="11064240" cy="685800"/>
          </a:xfrm>
          <a:prstGeom prst="rect">
            <a:avLst/>
          </a:prstGeom>
          <a:noFill/>
          <a:ln/>
        </p:spPr>
        <p:txBody>
          <a:bodyPr wrap="square" lIns="0" tIns="0" rIns="0" bIns="0" rtlCol="0" anchor="t"/>
          <a:lstStyle/>
          <a:p>
            <a:pPr algn="l" indent="0" marL="0">
              <a:buNone/>
            </a:pPr>
            <a:r>
              <a:rPr lang="en-US" sz="3000" b="1" dirty="0">
                <a:solidFill>
                  <a:schemeClr val="tx2"/>
                </a:solidFill>
                <a:latin typeface="Cambria" pitchFamily="34" charset="0"/>
                <a:ea typeface="Cambria" pitchFamily="34" charset="-122"/>
                <a:cs typeface="Cambria" pitchFamily="34" charset="-120"/>
              </a:rPr>
              <a:t>Hipótesis, kill criteria y riesgos</a:t>
            </a:r>
            <a:endParaRPr lang="en-US" sz="3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64240" cy="914400"/>
        </p:xfrm>
        <a:graphic>
          <a:graphicData uri="http://schemas.openxmlformats.org/drawingml/2006/table">
            <a:tbl>
              <a:tblPr/>
              <a:tblGrid>
                <a:gridCol w="4206240"/>
                <a:gridCol w="3566160"/>
                <a:gridCol w="3291840"/>
              </a:tblGrid>
              <a:tr h="365760">
                <a:tc>
                  <a:txBody>
                    <a:bodyPr/>
                    <a:lstStyle/>
                    <a:p>
                      <a:pPr indent="0" marL="0">
                        <a:buNone/>
                      </a:pPr>
                      <a:r>
                        <a:rPr lang="en-US" sz="1200" b="1" dirty="0">
                          <a:solidFill>
                            <a:schemeClr val="bg1"/>
                          </a:solidFill>
                        </a:rPr>
                        <a:t>Hipótesis</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Umbral de éxito</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Kill criterion</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solidFill>
                      <a:schemeClr val="tx2"/>
                    </a:solidFill>
                  </a:tcPr>
                </a:tc>
              </a:tr>
              <a:tr h="365760">
                <a:tc>
                  <a:txBody>
                    <a:bodyPr/>
                    <a:lstStyle/>
                    <a:p>
                      <a:pPr indent="0" marL="0">
                        <a:buNone/>
                      </a:pPr>
                      <a:r>
                        <a:rPr lang="en-US" sz="1200" dirty="0">
                          <a:solidFill>
                            <a:schemeClr val="tx1"/>
                          </a:solidFill>
                        </a:rPr>
                        <a:t>H1 · La persona mayor se inscribe (canal asistido)</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indent="0" marL="0">
                        <a:buNone/>
                      </a:pPr>
                      <a:r>
                        <a:rPr lang="en-US" sz="1200" dirty="0">
                          <a:solidFill>
                            <a:schemeClr val="tx1"/>
                          </a:solidFill>
                        </a:rPr>
                        <a:t>≥ 20% de los invitados</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indent="0" marL="0">
                        <a:buNone/>
                      </a:pPr>
                      <a:r>
                        <a:rPr lang="en-US" sz="1200" dirty="0">
                          <a:solidFill>
                            <a:schemeClr val="tx1"/>
                          </a:solidFill>
                        </a:rPr>
                        <a:t>&lt; 10% a las 8 semanas</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r>
              <a:tr h="365760">
                <a:tc>
                  <a:txBody>
                    <a:bodyPr/>
                    <a:lstStyle/>
                    <a:p>
                      <a:pPr indent="0" marL="0">
                        <a:buNone/>
                      </a:pPr>
                      <a:r>
                        <a:rPr lang="en-US" sz="1200" dirty="0">
                          <a:solidFill>
                            <a:schemeClr val="tx1"/>
                          </a:solidFill>
                        </a:rPr>
                        <a:t>H2 · El familiar se mantiene activo</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indent="0" marL="0">
                        <a:buNone/>
                      </a:pPr>
                      <a:r>
                        <a:rPr lang="en-US" sz="1200" dirty="0">
                          <a:solidFill>
                            <a:schemeClr val="tx1"/>
                          </a:solidFill>
                        </a:rPr>
                        <a:t>≥ 60% activo a los 60 días</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indent="0" marL="0">
                        <a:buNone/>
                      </a:pPr>
                      <a:r>
                        <a:rPr lang="en-US" sz="1200" dirty="0">
                          <a:solidFill>
                            <a:schemeClr val="tx1"/>
                          </a:solidFill>
                        </a:rPr>
                        <a:t>—</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r>
              <a:tr h="365760">
                <a:tc>
                  <a:txBody>
                    <a:bodyPr/>
                    <a:lstStyle/>
                    <a:p>
                      <a:pPr indent="0" marL="0">
                        <a:buNone/>
                      </a:pPr>
                      <a:r>
                        <a:rPr lang="en-US" sz="1200" dirty="0">
                          <a:solidFill>
                            <a:schemeClr val="tx1"/>
                          </a:solidFill>
                        </a:rPr>
                        <a:t>H3 · Baja el fraude y sube el uso</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indent="0" marL="0">
                        <a:buNone/>
                      </a:pPr>
                      <a:r>
                        <a:rPr lang="en-US" sz="1200" dirty="0">
                          <a:solidFill>
                            <a:schemeClr val="tx1"/>
                          </a:solidFill>
                        </a:rPr>
                        <a:t>−30% fraude y +10% pagos vs. control</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indent="0" marL="0">
                        <a:buNone/>
                      </a:pPr>
                      <a:r>
                        <a:rPr lang="en-US" sz="1200" dirty="0">
                          <a:solidFill>
                            <a:schemeClr val="tx1"/>
                          </a:solidFill>
                        </a:rPr>
                        <a:t>&lt; 10% menos fraude y &lt; 5% más uso</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r>
              <a:tr h="365760">
                <a:tc>
                  <a:txBody>
                    <a:bodyPr/>
                    <a:lstStyle/>
                    <a:p>
                      <a:pPr indent="0" marL="0">
                        <a:buNone/>
                      </a:pPr>
                      <a:r>
                        <a:rPr lang="en-US" sz="1200" dirty="0">
                          <a:solidFill>
                            <a:schemeClr val="tx1"/>
                          </a:solidFill>
                        </a:rPr>
                        <a:t>H4 · El banco paga</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indent="0" marL="0">
                        <a:buNone/>
                      </a:pPr>
                      <a:r>
                        <a:rPr lang="en-US" sz="1200" dirty="0">
                          <a:solidFill>
                            <a:schemeClr val="tx1"/>
                          </a:solidFill>
                        </a:rPr>
                        <a:t>2 de 5 bancos firman carta con precio</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indent="0" marL="0">
                        <a:buNone/>
                      </a:pPr>
                      <a:r>
                        <a:rPr lang="en-US" sz="1200" dirty="0">
                          <a:solidFill>
                            <a:schemeClr val="tx1"/>
                          </a:solidFill>
                        </a:rPr>
                        <a:t>Ningún banco dispuesto a pagar</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r>
              <a:tr h="365760">
                <a:tc>
                  <a:txBody>
                    <a:bodyPr/>
                    <a:lstStyle/>
                    <a:p>
                      <a:pPr indent="0" marL="0">
                        <a:buNone/>
                      </a:pPr>
                      <a:r>
                        <a:rPr lang="en-US" sz="1200" dirty="0">
                          <a:solidFill>
                            <a:schemeClr val="tx1"/>
                          </a:solidFill>
                        </a:rPr>
                        <a:t>H5 · Es viable integrar</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indent="0" marL="0">
                        <a:buNone/>
                      </a:pPr>
                      <a:r>
                        <a:rPr lang="en-US" sz="1200" dirty="0">
                          <a:solidFill>
                            <a:schemeClr val="tx1"/>
                          </a:solidFill>
                        </a:rPr>
                        <a:t>≤ 8 semanas y ≤ 2% falsos positivos</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indent="0" marL="0">
                        <a:buNone/>
                      </a:pPr>
                      <a:r>
                        <a:rPr lang="en-US" sz="1200" dirty="0">
                          <a:solidFill>
                            <a:schemeClr val="tx1"/>
                          </a:solidFill>
                        </a:rPr>
                        <a:t>Abuso del familiar &gt; 0,5% de los casos</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r>
            </a:tbl>
          </a:graphicData>
        </a:graphic>
      </p:graphicFrame>
      <p:graphicFrame>
        <p:nvGraphicFramePr>
          <p:cNvPr id="23" name="Table 1"/>
          <p:cNvGraphicFramePr>
            <a:graphicFrameLocks noGrp="1"/>
          </p:cNvGraphicFramePr>
          <p:nvPr>
            <p:extLst>
              <p:ext uri="{D42A27DB-BD31-4B8C-83A1-F6EECF244321}">
                <p14:modId xmlns:p14="http://schemas.microsoft.com/office/powerpoint/2010/main" val="1579011935"/>
              </p:ext>
            </p:extLst>
          </p:nvPr>
        </p:nvGraphicFramePr>
        <p:xfrm>
          <a:off x="548640" y="3931920"/>
          <a:ext cx="11064240" cy="914400"/>
        </p:xfrm>
        <a:graphic>
          <a:graphicData uri="http://schemas.openxmlformats.org/drawingml/2006/table">
            <a:tbl>
              <a:tblPr/>
              <a:tblGrid>
                <a:gridCol w="3657600"/>
                <a:gridCol w="7406640"/>
              </a:tblGrid>
              <a:tr h="365760">
                <a:tc>
                  <a:txBody>
                    <a:bodyPr/>
                    <a:lstStyle/>
                    <a:p>
                      <a:pPr indent="0" marL="0">
                        <a:buNone/>
                      </a:pPr>
                      <a:r>
                        <a:rPr lang="en-US" sz="1200" b="1" dirty="0">
                          <a:solidFill>
                            <a:schemeClr val="bg1"/>
                          </a:solidFill>
                        </a:rPr>
                        <a:t>Riesgo</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Mitigación</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solidFill>
                      <a:schemeClr val="tx2"/>
                    </a:solidFill>
                  </a:tcPr>
                </a:tc>
              </a:tr>
              <a:tr h="365760">
                <a:tc>
                  <a:txBody>
                    <a:bodyPr/>
                    <a:lstStyle/>
                    <a:p>
                      <a:pPr indent="0" marL="0">
                        <a:buNone/>
                      </a:pPr>
                      <a:r>
                        <a:rPr lang="en-US" sz="1200" dirty="0">
                          <a:solidFill>
                            <a:schemeClr val="tx1"/>
                          </a:solidFill>
                        </a:rPr>
                        <a:t>Los bancos no pagan</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indent="0" marL="0">
                        <a:buNone/>
                      </a:pPr>
                      <a:r>
                        <a:rPr lang="en-US" sz="1200" dirty="0">
                          <a:solidFill>
                            <a:schemeClr val="tx1"/>
                          </a:solidFill>
                        </a:rPr>
                        <a:t>Piloto gratuito con métricas de fraude y uso; precio basado en valor</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r>
              <a:tr h="365760">
                <a:tc>
                  <a:txBody>
                    <a:bodyPr/>
                    <a:lstStyle/>
                    <a:p>
                      <a:pPr indent="0" marL="0">
                        <a:buNone/>
                      </a:pPr>
                      <a:r>
                        <a:rPr lang="en-US" sz="1200" dirty="0">
                          <a:solidFill>
                            <a:schemeClr val="tx1"/>
                          </a:solidFill>
                        </a:rPr>
                        <a:t>Abuso económico por parte del familiar</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indent="0" marL="0">
                        <a:buNone/>
                      </a:pPr>
                      <a:r>
                        <a:rPr lang="en-US" sz="1200" dirty="0">
                          <a:solidFill>
                            <a:schemeClr val="tx1"/>
                          </a:solidFill>
                        </a:rPr>
                        <a:t>Consentimiento revocable, copia de todo a la persona mayor, sin acceso al dinero</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r>
              <a:tr h="365760">
                <a:tc>
                  <a:txBody>
                    <a:bodyPr/>
                    <a:lstStyle/>
                    <a:p>
                      <a:pPr indent="0" marL="0">
                        <a:buNone/>
                      </a:pPr>
                      <a:r>
                        <a:rPr lang="en-US" sz="1200" dirty="0">
                          <a:solidFill>
                            <a:schemeClr val="tx1"/>
                          </a:solidFill>
                        </a:rPr>
                        <a:t>Falsos positivos que frustran</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indent="0" marL="0">
                        <a:buNone/>
                      </a:pPr>
                      <a:r>
                        <a:rPr lang="en-US" sz="1200" dirty="0">
                          <a:solidFill>
                            <a:schemeClr val="tx1"/>
                          </a:solidFill>
                        </a:rPr>
                        <a:t>Verificar antes de rechazar; meta ≤ 2%</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r>
              <a:tr h="365760">
                <a:tc>
                  <a:txBody>
                    <a:bodyPr/>
                    <a:lstStyle/>
                    <a:p>
                      <a:pPr indent="0" marL="0">
                        <a:buNone/>
                      </a:pPr>
                      <a:r>
                        <a:rPr lang="en-US" sz="1200" dirty="0">
                          <a:solidFill>
                            <a:schemeClr val="tx1"/>
                          </a:solidFill>
                        </a:rPr>
                        <a:t>Regulatorio y datos personales</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indent="0" marL="0">
                        <a:buNone/>
                      </a:pPr>
                      <a:r>
                        <a:rPr lang="en-US" sz="1200" dirty="0">
                          <a:solidFill>
                            <a:schemeClr val="tx1"/>
                          </a:solidFill>
                        </a:rPr>
                        <a:t>Revisión de Ley 1581 y normas SFC en el discovery; privacidad desde el diseño</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r>
              <a:tr h="365760">
                <a:tc>
                  <a:txBody>
                    <a:bodyPr/>
                    <a:lstStyle/>
                    <a:p>
                      <a:pPr indent="0" marL="0">
                        <a:buNone/>
                      </a:pPr>
                      <a:r>
                        <a:rPr lang="en-US" sz="1200" dirty="0">
                          <a:solidFill>
                            <a:schemeClr val="tx1"/>
                          </a:solidFill>
                        </a:rPr>
                        <a:t>Prioridad interna frente a Bre-B</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indent="0" marL="0">
                        <a:buNone/>
                      </a:pPr>
                      <a:r>
                        <a:rPr lang="en-US" sz="1200" dirty="0">
                          <a:solidFill>
                            <a:schemeClr val="tx1"/>
                          </a:solidFill>
                        </a:rPr>
                        <a:t>Extender la misma capa de protección a Bre-B en la fase 2</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64240" cy="292608"/>
          </a:xfrm>
          <a:prstGeom prst="rect">
            <a:avLst/>
          </a:prstGeom>
          <a:noFill/>
          <a:ln/>
        </p:spPr>
        <p:txBody>
          <a:bodyPr wrap="square" lIns="0" tIns="0" rIns="0" bIns="0" rtlCol="0" anchor="t"/>
          <a:lstStyle/>
          <a:p>
            <a:pPr indent="0" marL="0">
              <a:buNone/>
            </a:pPr>
            <a:r>
              <a:rPr lang="en-US" sz="1200" b="1" spc="200" kern="0" dirty="0">
                <a:solidFill>
                  <a:schemeClr val="accent2"/>
                </a:solidFill>
              </a:rPr>
              <a:t>ANEXO F</a:t>
            </a:r>
            <a:endParaRPr lang="en-US" sz="1200" dirty="0"/>
          </a:p>
        </p:txBody>
      </p:sp>
      <p:sp>
        <p:nvSpPr>
          <p:cNvPr id="3" name="Text 0"/>
          <p:cNvSpPr/>
          <p:nvPr>
            <p:ph idx="101" type="title" hasCustomPrompt="1"/>
          </p:nvPr>
        </p:nvSpPr>
        <p:spPr>
          <a:xfrm>
            <a:off x="548640" y="640080"/>
            <a:ext cx="11064240" cy="685800"/>
          </a:xfrm>
          <a:prstGeom prst="rect">
            <a:avLst/>
          </a:prstGeom>
          <a:noFill/>
          <a:ln/>
        </p:spPr>
        <p:txBody>
          <a:bodyPr wrap="square" lIns="0" tIns="0" rIns="0" bIns="0" rtlCol="0" anchor="t"/>
          <a:lstStyle/>
          <a:p>
            <a:pPr algn="l" indent="0" marL="0">
              <a:buNone/>
            </a:pPr>
            <a:r>
              <a:rPr lang="en-US" sz="3000" b="1" dirty="0">
                <a:solidFill>
                  <a:schemeClr val="tx2"/>
                </a:solidFill>
                <a:latin typeface="Cambria" pitchFamily="34" charset="0"/>
                <a:ea typeface="Cambria" pitchFamily="34" charset="-122"/>
                <a:cs typeface="Cambria" pitchFamily="34" charset="-120"/>
              </a:rPr>
              <a:t>Business case: supuestos y resultados (escenario base, COP)</a:t>
            </a:r>
            <a:endParaRPr lang="en-US" sz="3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5120640" cy="914400"/>
        </p:xfrm>
        <a:graphic>
          <a:graphicData uri="http://schemas.openxmlformats.org/drawingml/2006/table">
            <a:tbl>
              <a:tblPr/>
              <a:tblGrid>
                <a:gridCol w="3108960"/>
                <a:gridCol w="2011680"/>
              </a:tblGrid>
              <a:tr h="347472">
                <a:tc>
                  <a:txBody>
                    <a:bodyPr/>
                    <a:lstStyle/>
                    <a:p>
                      <a:pPr indent="0" marL="0">
                        <a:buNone/>
                      </a:pPr>
                      <a:r>
                        <a:rPr lang="en-US" sz="1200" b="1" dirty="0">
                          <a:solidFill>
                            <a:schemeClr val="bg1"/>
                          </a:solidFill>
                        </a:rPr>
                        <a:t>Supuesto</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Valor</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solidFill>
                      <a:schemeClr val="tx2"/>
                    </a:solidFill>
                  </a:tcPr>
                </a:tc>
              </a:tr>
              <a:tr h="347472">
                <a:tc>
                  <a:txBody>
                    <a:bodyPr/>
                    <a:lstStyle/>
                    <a:p>
                      <a:pPr indent="0" marL="0">
                        <a:buNone/>
                      </a:pPr>
                      <a:r>
                        <a:rPr lang="en-US" sz="1200" dirty="0">
                          <a:solidFill>
                            <a:schemeClr val="tx1"/>
                          </a:solidFill>
                        </a:rPr>
                        <a:t>60+ con tarjeta activa (SAM)</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indent="0" marL="0">
                        <a:buNone/>
                      </a:pPr>
                      <a:r>
                        <a:rPr lang="en-US" sz="1200" dirty="0">
                          <a:solidFill>
                            <a:schemeClr val="tx1"/>
                          </a:solidFill>
                        </a:rPr>
                        <a:t>3,5 M</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r>
              <a:tr h="347472">
                <a:tc>
                  <a:txBody>
                    <a:bodyPr/>
                    <a:lstStyle/>
                    <a:p>
                      <a:pPr indent="0" marL="0">
                        <a:buNone/>
                      </a:pPr>
                      <a:r>
                        <a:rPr lang="en-US" sz="1200" dirty="0">
                          <a:solidFill>
                            <a:schemeClr val="tx1"/>
                          </a:solidFill>
                        </a:rPr>
                        <a:t>Participación de bancos clientes</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indent="0" marL="0">
                        <a:buNone/>
                      </a:pPr>
                      <a:r>
                        <a:rPr lang="en-US" sz="1200" dirty="0">
                          <a:solidFill>
                            <a:schemeClr val="tx1"/>
                          </a:solidFill>
                        </a:rPr>
                        <a:t>40%</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r>
              <a:tr h="347472">
                <a:tc>
                  <a:txBody>
                    <a:bodyPr/>
                    <a:lstStyle/>
                    <a:p>
                      <a:pPr indent="0" marL="0">
                        <a:buNone/>
                      </a:pPr>
                      <a:r>
                        <a:rPr lang="en-US" sz="1200" dirty="0">
                          <a:solidFill>
                            <a:schemeClr val="tx1"/>
                          </a:solidFill>
                        </a:rPr>
                        <a:t>Cobertura del Escudo, años 1/2/3</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indent="0" marL="0">
                        <a:buNone/>
                      </a:pPr>
                      <a:r>
                        <a:rPr lang="en-US" sz="1200" dirty="0">
                          <a:solidFill>
                            <a:schemeClr val="tx1"/>
                          </a:solidFill>
                        </a:rPr>
                        <a:t>5% / 25% / 40%</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r>
              <a:tr h="347472">
                <a:tc>
                  <a:txBody>
                    <a:bodyPr/>
                    <a:lstStyle/>
                    <a:p>
                      <a:pPr indent="0" marL="0">
                        <a:buNone/>
                      </a:pPr>
                      <a:r>
                        <a:rPr lang="en-US" sz="1200" dirty="0">
                          <a:solidFill>
                            <a:schemeClr val="tx1"/>
                          </a:solidFill>
                        </a:rPr>
                        <a:t>Inscripción al Círculo, años 1/2/3</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indent="0" marL="0">
                        <a:buNone/>
                      </a:pPr>
                      <a:r>
                        <a:rPr lang="en-US" sz="1200" dirty="0">
                          <a:solidFill>
                            <a:schemeClr val="tx1"/>
                          </a:solidFill>
                        </a:rPr>
                        <a:t>4% / 10% / 14%</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r>
              <a:tr h="347472">
                <a:tc>
                  <a:txBody>
                    <a:bodyPr/>
                    <a:lstStyle/>
                    <a:p>
                      <a:pPr indent="0" marL="0">
                        <a:buNone/>
                      </a:pPr>
                      <a:r>
                        <a:rPr lang="en-US" sz="1200" dirty="0">
                          <a:solidFill>
                            <a:schemeClr val="tx1"/>
                          </a:solidFill>
                        </a:rPr>
                        <a:t>Precio Escudo / Círculo (al mes)</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indent="0" marL="0">
                        <a:buNone/>
                      </a:pPr>
                      <a:r>
                        <a:rPr lang="en-US" sz="1200" dirty="0">
                          <a:solidFill>
                            <a:schemeClr val="tx1"/>
                          </a:solidFill>
                        </a:rPr>
                        <a:t>COP 250 / 1.200</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r>
              <a:tr h="347472">
                <a:tc>
                  <a:txBody>
                    <a:bodyPr/>
                    <a:lstStyle/>
                    <a:p>
                      <a:pPr indent="0" marL="0">
                        <a:buNone/>
                      </a:pPr>
                      <a:r>
                        <a:rPr lang="en-US" sz="1200" dirty="0">
                          <a:solidFill>
                            <a:schemeClr val="tx1"/>
                          </a:solidFill>
                        </a:rPr>
                        <a:t>Gasto mensual y aumento</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indent="0" marL="0">
                        <a:buNone/>
                      </a:pPr>
                      <a:r>
                        <a:rPr lang="en-US" sz="1200" dirty="0">
                          <a:solidFill>
                            <a:schemeClr val="tx1"/>
                          </a:solidFill>
                        </a:rPr>
                        <a:t>COP 600.000; +15%</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r>
              <a:tr h="347472">
                <a:tc>
                  <a:txBody>
                    <a:bodyPr/>
                    <a:lstStyle/>
                    <a:p>
                      <a:pPr indent="0" marL="0">
                        <a:buNone/>
                      </a:pPr>
                      <a:r>
                        <a:rPr lang="en-US" sz="1200" dirty="0">
                          <a:solidFill>
                            <a:schemeClr val="tx1"/>
                          </a:solidFill>
                        </a:rPr>
                        <a:t>Ingreso sobre gasto incremental</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indent="0" marL="0">
                        <a:buNone/>
                      </a:pPr>
                      <a:r>
                        <a:rPr lang="en-US" sz="1200" dirty="0">
                          <a:solidFill>
                            <a:schemeClr val="tx1"/>
                          </a:solidFill>
                        </a:rPr>
                        <a:t>0,20%</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r>
              <a:tr h="347472">
                <a:tc>
                  <a:txBody>
                    <a:bodyPr/>
                    <a:lstStyle/>
                    <a:p>
                      <a:pPr indent="0" marL="0">
                        <a:buNone/>
                      </a:pPr>
                      <a:r>
                        <a:rPr lang="en-US" sz="1200" dirty="0">
                          <a:solidFill>
                            <a:schemeClr val="tx1"/>
                          </a:solidFill>
                        </a:rPr>
                        <a:t>Costo variable Escudo / Círculo</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indent="0" marL="0">
                        <a:buNone/>
                      </a:pPr>
                      <a:r>
                        <a:rPr lang="en-US" sz="1200" dirty="0">
                          <a:solidFill>
                            <a:schemeClr val="tx1"/>
                          </a:solidFill>
                        </a:rPr>
                        <a:t>COP 50 / 400 al mes</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r>
              <a:tr h="347472">
                <a:tc>
                  <a:txBody>
                    <a:bodyPr/>
                    <a:lstStyle/>
                    <a:p>
                      <a:pPr indent="0" marL="0">
                        <a:buNone/>
                      </a:pPr>
                      <a:r>
                        <a:rPr lang="en-US" sz="1200" dirty="0">
                          <a:solidFill>
                            <a:schemeClr val="tx1"/>
                          </a:solidFill>
                        </a:rPr>
                        <a:t>Inversión inicial</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indent="0" marL="0">
                        <a:buNone/>
                      </a:pPr>
                      <a:r>
                        <a:rPr lang="en-US" sz="1200" dirty="0">
                          <a:solidFill>
                            <a:schemeClr val="tx1"/>
                          </a:solidFill>
                        </a:rPr>
                        <a:t>COP 800 M</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r>
              <a:tr h="347472">
                <a:tc>
                  <a:txBody>
                    <a:bodyPr/>
                    <a:lstStyle/>
                    <a:p>
                      <a:pPr indent="0" marL="0">
                        <a:buNone/>
                      </a:pPr>
                      <a:r>
                        <a:rPr lang="en-US" sz="1200" dirty="0">
                          <a:solidFill>
                            <a:schemeClr val="tx1"/>
                          </a:solidFill>
                        </a:rPr>
                        <a:t>Costos fijos, años 1/2/3</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indent="0" marL="0">
                        <a:buNone/>
                      </a:pPr>
                      <a:r>
                        <a:rPr lang="en-US" sz="1200" dirty="0">
                          <a:solidFill>
                            <a:schemeClr val="tx1"/>
                          </a:solidFill>
                        </a:rPr>
                        <a:t>COP 270 / 640 / 680 M</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r>
              <a:tr h="347472">
                <a:tc>
                  <a:txBody>
                    <a:bodyPr/>
                    <a:lstStyle/>
                    <a:p>
                      <a:pPr indent="0" marL="0">
                        <a:buNone/>
                      </a:pPr>
                      <a:r>
                        <a:rPr lang="en-US" sz="1200" dirty="0">
                          <a:solidFill>
                            <a:schemeClr val="tx1"/>
                          </a:solidFill>
                        </a:rPr>
                        <a:t>Tasa de descuento</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indent="0" marL="0">
                        <a:buNone/>
                      </a:pPr>
                      <a:r>
                        <a:rPr lang="en-US" sz="1200" dirty="0">
                          <a:solidFill>
                            <a:schemeClr val="tx1"/>
                          </a:solidFill>
                        </a:rPr>
                        <a:t>15%</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r>
            </a:tbl>
          </a:graphicData>
        </a:graphic>
      </p:graphicFrame>
      <p:graphicFrame>
        <p:nvGraphicFramePr>
          <p:cNvPr id="25" name="Table 1"/>
          <p:cNvGraphicFramePr>
            <a:graphicFrameLocks noGrp="1"/>
          </p:cNvGraphicFramePr>
          <p:nvPr>
            <p:extLst>
              <p:ext uri="{D42A27DB-BD31-4B8C-83A1-F6EECF244321}">
                <p14:modId xmlns:p14="http://schemas.microsoft.com/office/powerpoint/2010/main" val="1579011935"/>
              </p:ext>
            </p:extLst>
          </p:nvPr>
        </p:nvGraphicFramePr>
        <p:xfrm>
          <a:off x="6126480" y="1508760"/>
          <a:ext cx="5486400" cy="914400"/>
        </p:xfrm>
        <a:graphic>
          <a:graphicData uri="http://schemas.openxmlformats.org/drawingml/2006/table">
            <a:tbl>
              <a:tblPr/>
              <a:tblGrid>
                <a:gridCol w="2468880"/>
                <a:gridCol w="1005840"/>
                <a:gridCol w="1005840"/>
                <a:gridCol w="1005840"/>
              </a:tblGrid>
              <a:tr h="365760">
                <a:tc>
                  <a:txBody>
                    <a:bodyPr/>
                    <a:lstStyle/>
                    <a:p>
                      <a:pPr indent="0" marL="0">
                        <a:buNone/>
                      </a:pPr>
                      <a:r>
                        <a:rPr lang="en-US" sz="1200" b="1" dirty="0">
                          <a:solidFill>
                            <a:schemeClr val="bg1"/>
                          </a:solidFill>
                        </a:rPr>
                        <a:t>COP millones</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solidFill>
                      <a:schemeClr val="tx2"/>
                    </a:solidFill>
                  </a:tcPr>
                </a:tc>
                <a:tc>
                  <a:txBody>
                    <a:bodyPr/>
                    <a:lstStyle/>
                    <a:p>
                      <a:pPr algn="r" indent="0" marL="0">
                        <a:buNone/>
                      </a:pPr>
                      <a:r>
                        <a:rPr lang="en-US" sz="1200" b="1" dirty="0">
                          <a:solidFill>
                            <a:schemeClr val="bg1"/>
                          </a:solidFill>
                        </a:rPr>
                        <a:t>Año 1</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solidFill>
                      <a:schemeClr val="tx2"/>
                    </a:solidFill>
                  </a:tcPr>
                </a:tc>
                <a:tc>
                  <a:txBody>
                    <a:bodyPr/>
                    <a:lstStyle/>
                    <a:p>
                      <a:pPr algn="r" indent="0" marL="0">
                        <a:buNone/>
                      </a:pPr>
                      <a:r>
                        <a:rPr lang="en-US" sz="1200" b="1" dirty="0">
                          <a:solidFill>
                            <a:schemeClr val="bg1"/>
                          </a:solidFill>
                        </a:rPr>
                        <a:t>Año 2</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solidFill>
                      <a:schemeClr val="tx2"/>
                    </a:solidFill>
                  </a:tcPr>
                </a:tc>
                <a:tc>
                  <a:txBody>
                    <a:bodyPr/>
                    <a:lstStyle/>
                    <a:p>
                      <a:pPr algn="r" indent="0" marL="0">
                        <a:buNone/>
                      </a:pPr>
                      <a:r>
                        <a:rPr lang="en-US" sz="1200" b="1" dirty="0">
                          <a:solidFill>
                            <a:schemeClr val="bg1"/>
                          </a:solidFill>
                        </a:rPr>
                        <a:t>Año 3</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solidFill>
                      <a:schemeClr val="tx2"/>
                    </a:solidFill>
                  </a:tcPr>
                </a:tc>
              </a:tr>
              <a:tr h="365760">
                <a:tc>
                  <a:txBody>
                    <a:bodyPr/>
                    <a:lstStyle/>
                    <a:p>
                      <a:pPr indent="0" marL="0">
                        <a:buNone/>
                      </a:pPr>
                      <a:r>
                        <a:rPr lang="en-US" sz="1200" dirty="0">
                          <a:solidFill>
                            <a:schemeClr val="tx1"/>
                          </a:solidFill>
                        </a:rPr>
                        <a:t>Tarjetas protegidas</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algn="r" indent="0" marL="0">
                        <a:buNone/>
                      </a:pPr>
                      <a:r>
                        <a:rPr lang="en-US" sz="1200" dirty="0">
                          <a:solidFill>
                            <a:schemeClr val="tx1"/>
                          </a:solidFill>
                        </a:rPr>
                        <a:t>70 mil</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algn="r" indent="0" marL="0">
                        <a:buNone/>
                      </a:pPr>
                      <a:r>
                        <a:rPr lang="en-US" sz="1200" dirty="0">
                          <a:solidFill>
                            <a:schemeClr val="tx1"/>
                          </a:solidFill>
                        </a:rPr>
                        <a:t>350 mil</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algn="r" indent="0" marL="0">
                        <a:buNone/>
                      </a:pPr>
                      <a:r>
                        <a:rPr lang="en-US" sz="1200" dirty="0">
                          <a:solidFill>
                            <a:schemeClr val="tx1"/>
                          </a:solidFill>
                        </a:rPr>
                        <a:t>560 mil</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r>
              <a:tr h="365760">
                <a:tc>
                  <a:txBody>
                    <a:bodyPr/>
                    <a:lstStyle/>
                    <a:p>
                      <a:pPr indent="0" marL="0">
                        <a:buNone/>
                      </a:pPr>
                      <a:r>
                        <a:rPr lang="en-US" sz="1200" dirty="0">
                          <a:solidFill>
                            <a:schemeClr val="tx1"/>
                          </a:solidFill>
                        </a:rPr>
                        <a:t>Personas inscritas</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algn="r" indent="0" marL="0">
                        <a:buNone/>
                      </a:pPr>
                      <a:r>
                        <a:rPr lang="en-US" sz="1200" dirty="0">
                          <a:solidFill>
                            <a:schemeClr val="tx1"/>
                          </a:solidFill>
                        </a:rPr>
                        <a:t>2,8 mil</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algn="r" indent="0" marL="0">
                        <a:buNone/>
                      </a:pPr>
                      <a:r>
                        <a:rPr lang="en-US" sz="1200" dirty="0">
                          <a:solidFill>
                            <a:schemeClr val="tx1"/>
                          </a:solidFill>
                        </a:rPr>
                        <a:t>35 mil</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algn="r" indent="0" marL="0">
                        <a:buNone/>
                      </a:pPr>
                      <a:r>
                        <a:rPr lang="en-US" sz="1200" dirty="0">
                          <a:solidFill>
                            <a:schemeClr val="tx1"/>
                          </a:solidFill>
                        </a:rPr>
                        <a:t>78 mil</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r>
              <a:tr h="365760">
                <a:tc>
                  <a:txBody>
                    <a:bodyPr/>
                    <a:lstStyle/>
                    <a:p>
                      <a:pPr indent="0" marL="0">
                        <a:buNone/>
                      </a:pPr>
                      <a:r>
                        <a:rPr lang="en-US" sz="1200" dirty="0">
                          <a:solidFill>
                            <a:schemeClr val="tx1"/>
                          </a:solidFill>
                        </a:rPr>
                        <a:t>Ingresos totales</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algn="r" indent="0" marL="0">
                        <a:buNone/>
                      </a:pPr>
                      <a:r>
                        <a:rPr lang="en-US" sz="1200" dirty="0">
                          <a:solidFill>
                            <a:schemeClr val="tx1"/>
                          </a:solidFill>
                        </a:rPr>
                        <a:t>85</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algn="r" indent="0" marL="0">
                        <a:buNone/>
                      </a:pPr>
                      <a:r>
                        <a:rPr lang="en-US" sz="1200" dirty="0">
                          <a:solidFill>
                            <a:schemeClr val="tx1"/>
                          </a:solidFill>
                        </a:rPr>
                        <a:t>1.630</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algn="r" indent="0" marL="0">
                        <a:buNone/>
                      </a:pPr>
                      <a:r>
                        <a:rPr lang="en-US" sz="1200" dirty="0">
                          <a:solidFill>
                            <a:schemeClr val="tx1"/>
                          </a:solidFill>
                        </a:rPr>
                        <a:t>2.978</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r>
              <a:tr h="365760">
                <a:tc>
                  <a:txBody>
                    <a:bodyPr/>
                    <a:lstStyle/>
                    <a:p>
                      <a:pPr indent="0" marL="0">
                        <a:buNone/>
                      </a:pPr>
                      <a:r>
                        <a:rPr lang="en-US" sz="1200" dirty="0">
                          <a:solidFill>
                            <a:schemeClr val="tx1"/>
                          </a:solidFill>
                        </a:rPr>
                        <a:t>Costos variables</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algn="r" indent="0" marL="0">
                        <a:buNone/>
                      </a:pPr>
                      <a:r>
                        <a:rPr lang="en-US" sz="1200" dirty="0">
                          <a:solidFill>
                            <a:schemeClr val="tx1"/>
                          </a:solidFill>
                        </a:rPr>
                        <a:t>(18)</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algn="r" indent="0" marL="0">
                        <a:buNone/>
                      </a:pPr>
                      <a:r>
                        <a:rPr lang="en-US" sz="1200" dirty="0">
                          <a:solidFill>
                            <a:schemeClr val="tx1"/>
                          </a:solidFill>
                        </a:rPr>
                        <a:t>(378)</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algn="r" indent="0" marL="0">
                        <a:buNone/>
                      </a:pPr>
                      <a:r>
                        <a:rPr lang="en-US" sz="1200" dirty="0">
                          <a:solidFill>
                            <a:schemeClr val="tx1"/>
                          </a:solidFill>
                        </a:rPr>
                        <a:t>(712)</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r>
              <a:tr h="365760">
                <a:tc>
                  <a:txBody>
                    <a:bodyPr/>
                    <a:lstStyle/>
                    <a:p>
                      <a:pPr indent="0" marL="0">
                        <a:buNone/>
                      </a:pPr>
                      <a:r>
                        <a:rPr lang="en-US" sz="1200" dirty="0">
                          <a:solidFill>
                            <a:schemeClr val="tx1"/>
                          </a:solidFill>
                        </a:rPr>
                        <a:t>Costos fijos</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algn="r" indent="0" marL="0">
                        <a:buNone/>
                      </a:pPr>
                      <a:r>
                        <a:rPr lang="en-US" sz="1200" dirty="0">
                          <a:solidFill>
                            <a:schemeClr val="tx1"/>
                          </a:solidFill>
                        </a:rPr>
                        <a:t>(270)</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algn="r" indent="0" marL="0">
                        <a:buNone/>
                      </a:pPr>
                      <a:r>
                        <a:rPr lang="en-US" sz="1200" dirty="0">
                          <a:solidFill>
                            <a:schemeClr val="tx1"/>
                          </a:solidFill>
                        </a:rPr>
                        <a:t>(640)</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algn="r" indent="0" marL="0">
                        <a:buNone/>
                      </a:pPr>
                      <a:r>
                        <a:rPr lang="en-US" sz="1200" dirty="0">
                          <a:solidFill>
                            <a:schemeClr val="tx1"/>
                          </a:solidFill>
                        </a:rPr>
                        <a:t>(680)</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r>
              <a:tr h="365760">
                <a:tc>
                  <a:txBody>
                    <a:bodyPr/>
                    <a:lstStyle/>
                    <a:p>
                      <a:pPr indent="0" marL="0">
                        <a:buNone/>
                      </a:pPr>
                      <a:r>
                        <a:rPr lang="en-US" sz="1200" b="1" dirty="0">
                          <a:solidFill>
                            <a:schemeClr val="tx1"/>
                          </a:solidFill>
                        </a:rPr>
                        <a:t>EBITDA</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algn="r" indent="0" marL="0">
                        <a:buNone/>
                      </a:pPr>
                      <a:r>
                        <a:rPr lang="en-US" sz="1200" dirty="0">
                          <a:solidFill>
                            <a:schemeClr val="tx1"/>
                          </a:solidFill>
                        </a:rPr>
                        <a:t>(203)</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algn="r" indent="0" marL="0">
                        <a:buNone/>
                      </a:pPr>
                      <a:r>
                        <a:rPr lang="en-US" sz="1200" dirty="0">
                          <a:solidFill>
                            <a:schemeClr val="tx1"/>
                          </a:solidFill>
                        </a:rPr>
                        <a:t>612</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algn="r" indent="0" marL="0">
                        <a:buNone/>
                      </a:pPr>
                      <a:r>
                        <a:rPr lang="en-US" sz="1200" b="1" dirty="0">
                          <a:solidFill>
                            <a:schemeClr val="tx1"/>
                          </a:solidFill>
                        </a:rPr>
                        <a:t>1.586</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r>
              <a:tr h="365760">
                <a:tc>
                  <a:txBody>
                    <a:bodyPr/>
                    <a:lstStyle/>
                    <a:p>
                      <a:pPr indent="0" marL="0">
                        <a:buNone/>
                      </a:pPr>
                      <a:r>
                        <a:rPr lang="en-US" sz="1200" dirty="0">
                          <a:solidFill>
                            <a:schemeClr val="tx1"/>
                          </a:solidFill>
                        </a:rPr>
                        <a:t>Margen EBITDA</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algn="r" indent="0" marL="0">
                        <a:buNone/>
                      </a:pPr>
                      <a:r>
                        <a:rPr lang="en-US" sz="1200" dirty="0">
                          <a:solidFill>
                            <a:schemeClr val="tx1"/>
                          </a:solidFill>
                        </a:rPr>
                        <a:t>n.a.</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algn="r" indent="0" marL="0">
                        <a:buNone/>
                      </a:pPr>
                      <a:r>
                        <a:rPr lang="en-US" sz="1200" dirty="0">
                          <a:solidFill>
                            <a:schemeClr val="tx1"/>
                          </a:solidFill>
                        </a:rPr>
                        <a:t>37,5%</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algn="r" indent="0" marL="0">
                        <a:buNone/>
                      </a:pPr>
                      <a:r>
                        <a:rPr lang="en-US" sz="1200" dirty="0">
                          <a:solidFill>
                            <a:schemeClr val="tx1"/>
                          </a:solidFill>
                        </a:rPr>
                        <a:t>53,3%</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r>
              <a:tr h="365760">
                <a:tc>
                  <a:txBody>
                    <a:bodyPr/>
                    <a:lstStyle/>
                    <a:p>
                      <a:pPr indent="0" marL="0">
                        <a:buNone/>
                      </a:pPr>
                      <a:r>
                        <a:rPr lang="en-US" sz="1200" dirty="0">
                          <a:solidFill>
                            <a:schemeClr val="tx1"/>
                          </a:solidFill>
                        </a:rPr>
                        <a:t>Inversión</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algn="r" indent="0" marL="0">
                        <a:buNone/>
                      </a:pPr>
                      <a:r>
                        <a:rPr lang="en-US" sz="1200" dirty="0">
                          <a:solidFill>
                            <a:schemeClr val="tx1"/>
                          </a:solidFill>
                        </a:rPr>
                        <a:t>(800)</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algn="r" indent="0" marL="0">
                        <a:buNone/>
                      </a:pPr>
                      <a:r>
                        <a:rPr lang="en-US" sz="1200" dirty="0">
                          <a:solidFill>
                            <a:schemeClr val="tx1"/>
                          </a:solidFill>
                        </a:rPr>
                        <a:t>–</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algn="r" indent="0" marL="0">
                        <a:buNone/>
                      </a:pPr>
                      <a:r>
                        <a:rPr lang="en-US" sz="1200" dirty="0">
                          <a:solidFill>
                            <a:schemeClr val="tx1"/>
                          </a:solidFill>
                        </a:rPr>
                        <a:t>–</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r>
              <a:tr h="365760">
                <a:tc>
                  <a:txBody>
                    <a:bodyPr/>
                    <a:lstStyle/>
                    <a:p>
                      <a:pPr indent="0" marL="0">
                        <a:buNone/>
                      </a:pPr>
                      <a:r>
                        <a:rPr lang="en-US" sz="1200" b="1" dirty="0">
                          <a:solidFill>
                            <a:schemeClr val="tx1"/>
                          </a:solidFill>
                        </a:rPr>
                        <a:t>Flujo acumulado</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algn="r" indent="0" marL="0">
                        <a:buNone/>
                      </a:pPr>
                      <a:r>
                        <a:rPr lang="en-US" sz="1200" dirty="0">
                          <a:solidFill>
                            <a:schemeClr val="tx1"/>
                          </a:solidFill>
                        </a:rPr>
                        <a:t>(1.003)</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algn="r" indent="0" marL="0">
                        <a:buNone/>
                      </a:pPr>
                      <a:r>
                        <a:rPr lang="en-US" sz="1200" dirty="0">
                          <a:solidFill>
                            <a:schemeClr val="tx1"/>
                          </a:solidFill>
                        </a:rPr>
                        <a:t>(391)</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algn="r" indent="0" marL="0">
                        <a:buNone/>
                      </a:pPr>
                      <a:r>
                        <a:rPr lang="en-US" sz="1200" b="1" dirty="0">
                          <a:solidFill>
                            <a:schemeClr val="tx1"/>
                          </a:solidFill>
                        </a:rPr>
                        <a:t>1.195</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r>
            </a:tbl>
          </a:graphicData>
        </a:graphic>
      </p:graphicFrame>
      <p:sp>
        <p:nvSpPr>
          <p:cNvPr id="7" name="Nota metodología"/>
          <p:cNvSpPr txBox="1"/>
          <p:nvPr/>
        </p:nvSpPr>
        <p:spPr>
          <a:xfrm>
            <a:off x="6126480" y="5349240"/>
            <a:ext cx="5486400" cy="731520"/>
          </a:xfrm>
          <a:prstGeom prst="rect">
            <a:avLst/>
          </a:prstGeom>
          <a:noFill/>
          <a:ln/>
        </p:spPr>
        <p:txBody>
          <a:bodyPr wrap="square" lIns="0" tIns="0" rIns="0" bIns="0" rtlCol="0" anchor="t"/>
          <a:lstStyle/>
          <a:p>
            <a:pPr indent="0" marL="0">
              <a:buNone/>
            </a:pPr>
            <a:r>
              <a:rPr lang="en-US" sz="1200" i="1" dirty="0">
                <a:solidFill>
                  <a:schemeClr val="tx1"/>
                </a:solidFill>
              </a:rPr>
              <a:t>Metodología igual en los 3 escenarios: ROI = (Σ EBITDA 3 años − inversión) / inversión · VAN sobre flujos netos a 3 años, sin valor terminal · payback = meses hasta flujo acumulado ≥ 0</a:t>
            </a:r>
            <a:endParaRPr lang="en-US" sz="12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64240" cy="292608"/>
          </a:xfrm>
          <a:prstGeom prst="rect">
            <a:avLst/>
          </a:prstGeom>
          <a:noFill/>
          <a:ln/>
        </p:spPr>
        <p:txBody>
          <a:bodyPr wrap="square" lIns="0" tIns="0" rIns="0" bIns="0" rtlCol="0" anchor="t"/>
          <a:lstStyle/>
          <a:p>
            <a:pPr indent="0" marL="0">
              <a:buNone/>
            </a:pPr>
            <a:r>
              <a:rPr lang="en-US" sz="1200" b="1" spc="200" kern="0" dirty="0">
                <a:solidFill>
                  <a:schemeClr val="accent2"/>
                </a:solidFill>
              </a:rPr>
              <a:t>ANEXO G</a:t>
            </a:r>
            <a:endParaRPr lang="en-US" sz="1200" dirty="0"/>
          </a:p>
        </p:txBody>
      </p:sp>
      <p:sp>
        <p:nvSpPr>
          <p:cNvPr id="3" name="Text 0"/>
          <p:cNvSpPr/>
          <p:nvPr>
            <p:ph idx="101" type="title" hasCustomPrompt="1"/>
          </p:nvPr>
        </p:nvSpPr>
        <p:spPr>
          <a:xfrm>
            <a:off x="548640" y="640080"/>
            <a:ext cx="11064240" cy="685800"/>
          </a:xfrm>
          <a:prstGeom prst="rect">
            <a:avLst/>
          </a:prstGeom>
          <a:noFill/>
          <a:ln/>
        </p:spPr>
        <p:txBody>
          <a:bodyPr wrap="square" lIns="0" tIns="0" rIns="0" bIns="0" rtlCol="0" anchor="t"/>
          <a:lstStyle/>
          <a:p>
            <a:pPr algn="l" indent="0" marL="0">
              <a:buNone/>
            </a:pPr>
            <a:r>
              <a:rPr lang="en-US" sz="3000" b="1" dirty="0">
                <a:solidFill>
                  <a:schemeClr val="tx2"/>
                </a:solidFill>
                <a:latin typeface="Cambria" pitchFamily="34" charset="0"/>
                <a:ea typeface="Cambria" pitchFamily="34" charset="-122"/>
                <a:cs typeface="Cambria" pitchFamily="34" charset="-120"/>
              </a:rPr>
              <a:t>Escenarios y sensibilidad</a:t>
            </a:r>
            <a:endParaRPr lang="en-US" sz="3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5486400" cy="914400"/>
        </p:xfrm>
        <a:graphic>
          <a:graphicData uri="http://schemas.openxmlformats.org/drawingml/2006/table">
            <a:tbl>
              <a:tblPr/>
              <a:tblGrid>
                <a:gridCol w="2194560"/>
                <a:gridCol w="1097280"/>
                <a:gridCol w="1097280"/>
                <a:gridCol w="1097280"/>
              </a:tblGrid>
              <a:tr h="411480">
                <a:tc>
                  <a:txBody>
                    <a:bodyPr/>
                    <a:lstStyle/>
                    <a:p>
                      <a:pPr indent="0" marL="0">
                        <a:buNone/>
                      </a:pPr>
                      <a:r>
                        <a:rPr lang="en-US" sz="1200" b="1" dirty="0">
                          <a:solidFill>
                            <a:schemeClr val="bg1"/>
                          </a:solidFill>
                        </a:rPr>
                        <a:t>COP millones</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solidFill>
                      <a:schemeClr val="tx2"/>
                    </a:solidFill>
                  </a:tcPr>
                </a:tc>
                <a:tc>
                  <a:txBody>
                    <a:bodyPr/>
                    <a:lstStyle/>
                    <a:p>
                      <a:pPr algn="r" indent="0" marL="0">
                        <a:buNone/>
                      </a:pPr>
                      <a:r>
                        <a:rPr lang="en-US" sz="1200" b="1" dirty="0">
                          <a:solidFill>
                            <a:schemeClr val="bg1"/>
                          </a:solidFill>
                        </a:rPr>
                        <a:t>Conservador</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solidFill>
                      <a:schemeClr val="tx2"/>
                    </a:solidFill>
                  </a:tcPr>
                </a:tc>
                <a:tc>
                  <a:txBody>
                    <a:bodyPr/>
                    <a:lstStyle/>
                    <a:p>
                      <a:pPr algn="r" indent="0" marL="0">
                        <a:buNone/>
                      </a:pPr>
                      <a:r>
                        <a:rPr lang="en-US" sz="1200" b="1" dirty="0">
                          <a:solidFill>
                            <a:schemeClr val="bg1"/>
                          </a:solidFill>
                        </a:rPr>
                        <a:t>Base</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solidFill>
                      <a:schemeClr val="tx2"/>
                    </a:solidFill>
                  </a:tcPr>
                </a:tc>
                <a:tc>
                  <a:txBody>
                    <a:bodyPr/>
                    <a:lstStyle/>
                    <a:p>
                      <a:pPr algn="r" indent="0" marL="0">
                        <a:buNone/>
                      </a:pPr>
                      <a:r>
                        <a:rPr lang="en-US" sz="1200" b="1" dirty="0">
                          <a:solidFill>
                            <a:schemeClr val="bg1"/>
                          </a:solidFill>
                        </a:rPr>
                        <a:t>Optimista</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solidFill>
                      <a:schemeClr val="tx2"/>
                    </a:solidFill>
                  </a:tcPr>
                </a:tc>
              </a:tr>
              <a:tr h="411480">
                <a:tc>
                  <a:txBody>
                    <a:bodyPr/>
                    <a:lstStyle/>
                    <a:p>
                      <a:pPr indent="0" marL="0">
                        <a:buNone/>
                      </a:pPr>
                      <a:r>
                        <a:rPr lang="en-US" sz="1200" dirty="0">
                          <a:solidFill>
                            <a:schemeClr val="tx1"/>
                          </a:solidFill>
                        </a:rPr>
                        <a:t>Ingresos año 3</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algn="r" indent="0" marL="0">
                        <a:buNone/>
                      </a:pPr>
                      <a:r>
                        <a:rPr lang="en-US" sz="1200" dirty="0">
                          <a:solidFill>
                            <a:schemeClr val="tx1"/>
                          </a:solidFill>
                        </a:rPr>
                        <a:t>975</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algn="r" indent="0" marL="0">
                        <a:buNone/>
                      </a:pPr>
                      <a:r>
                        <a:rPr lang="en-US" sz="1200" dirty="0">
                          <a:solidFill>
                            <a:schemeClr val="tx1"/>
                          </a:solidFill>
                        </a:rPr>
                        <a:t>2.978</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algn="r" indent="0" marL="0">
                        <a:buNone/>
                      </a:pPr>
                      <a:r>
                        <a:rPr lang="en-US" sz="1200" dirty="0">
                          <a:solidFill>
                            <a:schemeClr val="tx1"/>
                          </a:solidFill>
                        </a:rPr>
                        <a:t>5.714</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r>
              <a:tr h="411480">
                <a:tc>
                  <a:txBody>
                    <a:bodyPr/>
                    <a:lstStyle/>
                    <a:p>
                      <a:pPr indent="0" marL="0">
                        <a:buNone/>
                      </a:pPr>
                      <a:r>
                        <a:rPr lang="en-US" sz="1200" dirty="0">
                          <a:solidFill>
                            <a:schemeClr val="tx1"/>
                          </a:solidFill>
                        </a:rPr>
                        <a:t>EBITDA año 3</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algn="r" indent="0" marL="0">
                        <a:buNone/>
                      </a:pPr>
                      <a:r>
                        <a:rPr lang="en-US" sz="1200" dirty="0">
                          <a:solidFill>
                            <a:schemeClr val="tx1"/>
                          </a:solidFill>
                        </a:rPr>
                        <a:t>(58)</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algn="r" indent="0" marL="0">
                        <a:buNone/>
                      </a:pPr>
                      <a:r>
                        <a:rPr lang="en-US" sz="1200" dirty="0">
                          <a:solidFill>
                            <a:schemeClr val="tx1"/>
                          </a:solidFill>
                        </a:rPr>
                        <a:t>1.586</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algn="r" indent="0" marL="0">
                        <a:buNone/>
                      </a:pPr>
                      <a:r>
                        <a:rPr lang="en-US" sz="1200" dirty="0">
                          <a:solidFill>
                            <a:schemeClr val="tx1"/>
                          </a:solidFill>
                        </a:rPr>
                        <a:t>3.863</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r>
              <a:tr h="411480">
                <a:tc>
                  <a:txBody>
                    <a:bodyPr/>
                    <a:lstStyle/>
                    <a:p>
                      <a:pPr indent="0" marL="0">
                        <a:buNone/>
                      </a:pPr>
                      <a:r>
                        <a:rPr lang="en-US" sz="1200" dirty="0">
                          <a:solidFill>
                            <a:schemeClr val="tx1"/>
                          </a:solidFill>
                        </a:rPr>
                        <a:t>Margen EBITDA año 3</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algn="r" indent="0" marL="0">
                        <a:buNone/>
                      </a:pPr>
                      <a:r>
                        <a:rPr lang="en-US" sz="1200" dirty="0">
                          <a:solidFill>
                            <a:schemeClr val="tx1"/>
                          </a:solidFill>
                        </a:rPr>
                        <a:t>−6,0%</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algn="r" indent="0" marL="0">
                        <a:buNone/>
                      </a:pPr>
                      <a:r>
                        <a:rPr lang="en-US" sz="1200" dirty="0">
                          <a:solidFill>
                            <a:schemeClr val="tx1"/>
                          </a:solidFill>
                        </a:rPr>
                        <a:t>53,3%</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algn="r" indent="0" marL="0">
                        <a:buNone/>
                      </a:pPr>
                      <a:r>
                        <a:rPr lang="en-US" sz="1200" dirty="0">
                          <a:solidFill>
                            <a:schemeClr val="tx1"/>
                          </a:solidFill>
                        </a:rPr>
                        <a:t>67,6%</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r>
              <a:tr h="411480">
                <a:tc>
                  <a:txBody>
                    <a:bodyPr/>
                    <a:lstStyle/>
                    <a:p>
                      <a:pPr indent="0" marL="0">
                        <a:buNone/>
                      </a:pPr>
                      <a:r>
                        <a:rPr lang="en-US" sz="1200" dirty="0">
                          <a:solidFill>
                            <a:schemeClr val="tx1"/>
                          </a:solidFill>
                        </a:rPr>
                        <a:t>Inversión inicial</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algn="r" indent="0" marL="0">
                        <a:buNone/>
                      </a:pPr>
                      <a:r>
                        <a:rPr lang="en-US" sz="1200" dirty="0">
                          <a:solidFill>
                            <a:schemeClr val="tx1"/>
                          </a:solidFill>
                        </a:rPr>
                        <a:t>920</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algn="r" indent="0" marL="0">
                        <a:buNone/>
                      </a:pPr>
                      <a:r>
                        <a:rPr lang="en-US" sz="1200" dirty="0">
                          <a:solidFill>
                            <a:schemeClr val="tx1"/>
                          </a:solidFill>
                        </a:rPr>
                        <a:t>800</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algn="r" indent="0" marL="0">
                        <a:buNone/>
                      </a:pPr>
                      <a:r>
                        <a:rPr lang="en-US" sz="1200" dirty="0">
                          <a:solidFill>
                            <a:schemeClr val="tx1"/>
                          </a:solidFill>
                        </a:rPr>
                        <a:t>720</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r>
              <a:tr h="411480">
                <a:tc>
                  <a:txBody>
                    <a:bodyPr/>
                    <a:lstStyle/>
                    <a:p>
                      <a:pPr indent="0" marL="0">
                        <a:buNone/>
                      </a:pPr>
                      <a:r>
                        <a:rPr lang="en-US" sz="1200" dirty="0">
                          <a:solidFill>
                            <a:schemeClr val="tx1"/>
                          </a:solidFill>
                        </a:rPr>
                        <a:t>Flujo acumulado 3 años</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algn="r" indent="0" marL="0">
                        <a:buNone/>
                      </a:pPr>
                      <a:r>
                        <a:rPr lang="en-US" sz="1200" dirty="0">
                          <a:solidFill>
                            <a:schemeClr val="tx1"/>
                          </a:solidFill>
                        </a:rPr>
                        <a:t>(1.581)</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algn="r" indent="0" marL="0">
                        <a:buNone/>
                      </a:pPr>
                      <a:r>
                        <a:rPr lang="en-US" sz="1200" dirty="0">
                          <a:solidFill>
                            <a:schemeClr val="tx1"/>
                          </a:solidFill>
                        </a:rPr>
                        <a:t>1.195</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algn="r" indent="0" marL="0">
                        <a:buNone/>
                      </a:pPr>
                      <a:r>
                        <a:rPr lang="en-US" sz="1200" dirty="0">
                          <a:solidFill>
                            <a:schemeClr val="tx1"/>
                          </a:solidFill>
                        </a:rPr>
                        <a:t>4.690</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r>
              <a:tr h="411480">
                <a:tc>
                  <a:txBody>
                    <a:bodyPr/>
                    <a:lstStyle/>
                    <a:p>
                      <a:pPr indent="0" marL="0">
                        <a:buNone/>
                      </a:pPr>
                      <a:r>
                        <a:rPr lang="en-US" sz="1200" dirty="0">
                          <a:solidFill>
                            <a:schemeClr val="tx1"/>
                          </a:solidFill>
                        </a:rPr>
                        <a:t>ROI a 3 años</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algn="r" indent="0" marL="0">
                        <a:buNone/>
                      </a:pPr>
                      <a:r>
                        <a:rPr lang="en-US" sz="1200" dirty="0">
                          <a:solidFill>
                            <a:schemeClr val="tx1"/>
                          </a:solidFill>
                        </a:rPr>
                        <a:t>−172%</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algn="r" indent="0" marL="0">
                        <a:buNone/>
                      </a:pPr>
                      <a:r>
                        <a:rPr lang="en-US" sz="1200" dirty="0">
                          <a:solidFill>
                            <a:schemeClr val="tx1"/>
                          </a:solidFill>
                        </a:rPr>
                        <a:t>149%</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algn="r" indent="0" marL="0">
                        <a:buNone/>
                      </a:pPr>
                      <a:r>
                        <a:rPr lang="en-US" sz="1200" dirty="0">
                          <a:solidFill>
                            <a:schemeClr val="tx1"/>
                          </a:solidFill>
                        </a:rPr>
                        <a:t>651%</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r>
              <a:tr h="411480">
                <a:tc>
                  <a:txBody>
                    <a:bodyPr/>
                    <a:lstStyle/>
                    <a:p>
                      <a:pPr indent="0" marL="0">
                        <a:buNone/>
                      </a:pPr>
                      <a:r>
                        <a:rPr lang="en-US" sz="1200" dirty="0">
                          <a:solidFill>
                            <a:schemeClr val="tx1"/>
                          </a:solidFill>
                        </a:rPr>
                        <a:t>VAN al 15%</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algn="r" indent="0" marL="0">
                        <a:buNone/>
                      </a:pPr>
                      <a:r>
                        <a:rPr lang="en-US" sz="1200" dirty="0">
                          <a:solidFill>
                            <a:schemeClr val="tx1"/>
                          </a:solidFill>
                        </a:rPr>
                        <a:t>(1.326)</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algn="r" indent="0" marL="0">
                        <a:buNone/>
                      </a:pPr>
                      <a:r>
                        <a:rPr lang="en-US" sz="1200" dirty="0">
                          <a:solidFill>
                            <a:schemeClr val="tx1"/>
                          </a:solidFill>
                        </a:rPr>
                        <a:t>633</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algn="r" indent="0" marL="0">
                        <a:buNone/>
                      </a:pPr>
                      <a:r>
                        <a:rPr lang="en-US" sz="1200" dirty="0">
                          <a:solidFill>
                            <a:schemeClr val="tx1"/>
                          </a:solidFill>
                        </a:rPr>
                        <a:t>3.071</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r>
              <a:tr h="411480">
                <a:tc>
                  <a:txBody>
                    <a:bodyPr/>
                    <a:lstStyle/>
                    <a:p>
                      <a:pPr indent="0" marL="0">
                        <a:buNone/>
                      </a:pPr>
                      <a:r>
                        <a:rPr lang="en-US" sz="1200" dirty="0">
                          <a:solidFill>
                            <a:schemeClr val="tx1"/>
                          </a:solidFill>
                        </a:rPr>
                        <a:t>Payback</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algn="r" indent="0" marL="0">
                        <a:buNone/>
                      </a:pPr>
                      <a:r>
                        <a:rPr lang="en-US" sz="1200" dirty="0">
                          <a:solidFill>
                            <a:schemeClr val="tx1"/>
                          </a:solidFill>
                        </a:rPr>
                        <a:t>&gt; 36 meses</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algn="r" indent="0" marL="0">
                        <a:buNone/>
                      </a:pPr>
                      <a:r>
                        <a:rPr lang="en-US" sz="1200" dirty="0">
                          <a:solidFill>
                            <a:schemeClr val="tx1"/>
                          </a:solidFill>
                        </a:rPr>
                        <a:t>27 meses</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c>
                  <a:txBody>
                    <a:bodyPr/>
                    <a:lstStyle/>
                    <a:p>
                      <a:pPr algn="r" indent="0" marL="0">
                        <a:buNone/>
                      </a:pPr>
                      <a:r>
                        <a:rPr lang="en-US" sz="1200" dirty="0">
                          <a:solidFill>
                            <a:schemeClr val="tx1"/>
                          </a:solidFill>
                        </a:rPr>
                        <a:t>18 meses</a:t>
                      </a:r>
                      <a:endParaRPr lang="en-US" sz="1200" dirty="0"/>
                    </a:p>
                  </a:txBody>
                  <a:tcPr marL="76200" marR="76200" marT="38100" marB="38100" anchor="ctr">
                    <a:lnL w="6350" cap="flat" cmpd="sng" algn="ctr">
                      <a:solidFill>
                        <a:srgbClr val="DCE3E1"/>
                      </a:solidFill>
                      <a:prstDash val="solid"/>
                      <a:round/>
                      <a:headEnd type="none" w="med" len="med"/>
                      <a:tailEnd type="none" w="med" len="med"/>
                    </a:lnL>
                    <a:lnR w="6350" cap="flat" cmpd="sng" algn="ctr">
                      <a:solidFill>
                        <a:srgbClr val="DCE3E1"/>
                      </a:solidFill>
                      <a:prstDash val="solid"/>
                      <a:round/>
                      <a:headEnd type="none" w="med" len="med"/>
                      <a:tailEnd type="none" w="med" len="med"/>
                    </a:lnR>
                    <a:lnT w="6350" cap="flat" cmpd="sng" algn="ctr">
                      <a:solidFill>
                        <a:srgbClr val="DCE3E1"/>
                      </a:solidFill>
                      <a:prstDash val="solid"/>
                      <a:round/>
                      <a:headEnd type="none" w="med" len="med"/>
                      <a:tailEnd type="none" w="med" len="med"/>
                    </a:lnT>
                    <a:lnB w="6350" cap="flat" cmpd="sng" algn="ctr">
                      <a:solidFill>
                        <a:srgbClr val="DCE3E1"/>
                      </a:solidFill>
                      <a:prstDash val="solid"/>
                      <a:round/>
                      <a:headEnd type="none" w="med" len="med"/>
                      <a:tailEnd type="none" w="med" len="med"/>
                    </a:lnB>
                  </a:tcPr>
                </a:tc>
              </a:tr>
            </a:tbl>
          </a:graphicData>
        </a:graphic>
      </p:graphicFrame>
      <p:sp>
        <p:nvSpPr>
          <p:cNvPr id="6" name="Título tornado"/>
          <p:cNvSpPr txBox="1"/>
          <p:nvPr/>
        </p:nvSpPr>
        <p:spPr>
          <a:xfrm>
            <a:off x="6400800" y="1508760"/>
            <a:ext cx="5212080" cy="502920"/>
          </a:xfrm>
          <a:prstGeom prst="rect">
            <a:avLst/>
          </a:prstGeom>
          <a:noFill/>
          <a:ln/>
        </p:spPr>
        <p:txBody>
          <a:bodyPr wrap="square" lIns="0" tIns="0" rIns="0" bIns="0" rtlCol="0" anchor="t"/>
          <a:lstStyle/>
          <a:p>
            <a:pPr indent="0" marL="0">
              <a:buNone/>
            </a:pPr>
            <a:r>
              <a:rPr lang="en-US" sz="1300" b="1" dirty="0">
                <a:solidFill>
                  <a:schemeClr val="tx2"/>
                </a:solidFill>
              </a:rPr>
              <a:t>Sensibilidad del VAN base · cambio vs. COP 633 M al mover cada supuesto ±20%</a:t>
            </a:r>
            <a:endParaRPr lang="en-US" sz="1300" dirty="0"/>
          </a:p>
        </p:txBody>
      </p:sp>
      <p:graphicFrame>
        <p:nvGraphicFramePr>
          <p:cNvPr id="7" name="Gráfico tornado" descr=""/>
          <p:cNvGraphicFramePr/>
          <p:nvPr/>
        </p:nvGraphicFramePr>
        <p:xfrm>
          <a:off x="6309360" y="2011680"/>
          <a:ext cx="5303520" cy="3566160"/>
        </p:xfrm>
        <a:graphic xmlns:a="http://schemas.openxmlformats.org/drawingml/2006/main">
          <a:graphicData uri="http://schemas.openxmlformats.org/drawingml/2006/chart">
            <c:chart xmlns:c="http://schemas.openxmlformats.org/drawingml/2006/chart" r:id="rId1"/>
          </a:graphicData>
        </a:graphic>
      </p:graphicFrame>
      <p:sp>
        <p:nvSpPr>
          <p:cNvPr id="8" name="Nota valor esperado"/>
          <p:cNvSpPr txBox="1"/>
          <p:nvPr/>
        </p:nvSpPr>
        <p:spPr>
          <a:xfrm>
            <a:off x="548640" y="5806440"/>
            <a:ext cx="11064240" cy="411480"/>
          </a:xfrm>
          <a:prstGeom prst="rect">
            <a:avLst/>
          </a:prstGeom>
          <a:noFill/>
          <a:ln/>
        </p:spPr>
        <p:txBody>
          <a:bodyPr wrap="square" lIns="0" tIns="0" rIns="0" bIns="0" rtlCol="0" anchor="t"/>
          <a:lstStyle/>
          <a:p>
            <a:pPr indent="0" marL="0">
              <a:buNone/>
            </a:pPr>
            <a:r>
              <a:rPr lang="en-US" sz="1200" i="1" dirty="0">
                <a:solidFill>
                  <a:schemeClr val="tx1"/>
                </a:solidFill>
              </a:rPr>
              <a:t>Valor esperado ponderado (25% / 50% / 25%): COP 753 M · Pérdida máxima si se detiene en el gate del piloto: ≈COP 850 M</a:t>
            </a:r>
            <a:endParaRPr lang="en-US" sz="12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Red de Confianza">
  <a:themeElements>
    <a:clrScheme name="Red de Confianza">
      <a:dk1>
        <a:srgbClr val="1F2A2E"/>
      </a:dk1>
      <a:lt1>
        <a:srgbClr val="FFFFFF"/>
      </a:lt1>
      <a:dk2>
        <a:srgbClr val="0F4C45"/>
      </a:dk2>
      <a:lt2>
        <a:srgbClr val="EAF4F2"/>
      </a:lt2>
      <a:accent1>
        <a:srgbClr val="0F4C45"/>
      </a:accent1>
      <a:accent2>
        <a:srgbClr val="2A9D8F"/>
      </a:accent2>
      <a:accent3>
        <a:srgbClr val="E09F3E"/>
      </a:accent3>
      <a:accent4>
        <a:srgbClr val="A3ADB2"/>
      </a:accent4>
      <a:accent5>
        <a:srgbClr val="8CCFC4"/>
      </a:accent5>
      <a:accent6>
        <a:srgbClr val="B5533C"/>
      </a:accent6>
      <a:hlink>
        <a:srgbClr val="2A9D8F"/>
      </a:hlink>
      <a:folHlink>
        <a:srgbClr val="0F4C45"/>
      </a:folHlink>
    </a:clrScheme>
    <a:fontScheme name="Red de Confianza">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Silver Economy · Red de Confianza</dc:title>
  <dc:subject>Assessment Especialista de Producto</dc:subject>
  <dc:creator>Especialista de Producto</dc:creator>
  <cp:lastModifiedBy>Especialista de Producto</cp:lastModifiedBy>
  <cp:revision>1</cp:revision>
  <dcterms:created xsi:type="dcterms:W3CDTF">2026-10-18T13:32:42Z</dcterms:created>
  <dcterms:modified xsi:type="dcterms:W3CDTF">2026-10-18T13:32:42Z</dcterms:modified>
</cp:coreProperties>
</file>